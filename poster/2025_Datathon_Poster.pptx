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43891200" cy="32918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363434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363434"/>
        </a:fontRef>
        <a:srgbClr val="36343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rgbClr val="F0E7D9"/>
          </a:solidFill>
        </a:fill>
      </a:tcStyle>
    </a:wholeTbl>
    <a:band2H>
      <a:tcTxStyle b="def" i="def"/>
      <a:tcStyle>
        <a:tcBdr/>
        <a:fill>
          <a:solidFill>
            <a:srgbClr val="F8F4ED"/>
          </a:solidFill>
        </a:fill>
      </a:tcStyle>
    </a:band2H>
    <a:firstCol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381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381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434"/>
        </a:fontRef>
        <a:srgbClr val="36343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rgbClr val="D4DFDC"/>
          </a:solidFill>
        </a:fill>
      </a:tcStyle>
    </a:wholeTbl>
    <a:band2H>
      <a:tcTxStyle b="def" i="def"/>
      <a:tcStyle>
        <a:tcBdr/>
        <a:fill>
          <a:solidFill>
            <a:srgbClr val="EAF0EE"/>
          </a:solidFill>
        </a:fill>
      </a:tcStyle>
    </a:band2H>
    <a:firstCol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381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381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434"/>
        </a:fontRef>
        <a:srgbClr val="36343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rgbClr val="E2DBD0"/>
          </a:solidFill>
        </a:fill>
      </a:tcStyle>
    </a:wholeTbl>
    <a:band2H>
      <a:tcTxStyle b="def" i="def"/>
      <a:tcStyle>
        <a:tcBdr/>
        <a:fill>
          <a:solidFill>
            <a:srgbClr val="F1EEE9"/>
          </a:solidFill>
        </a:fill>
      </a:tcStyle>
    </a:band2H>
    <a:firstCol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381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381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434"/>
        </a:fontRef>
        <a:srgbClr val="36343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7E7"/>
          </a:solidFill>
        </a:fill>
      </a:tcStyle>
    </a:wholeTbl>
    <a:band2H>
      <a:tcTxStyle b="def" i="def"/>
      <a:tcStyle>
        <a:tcBdr/>
        <a:fill>
          <a:solidFill>
            <a:srgbClr val="501214"/>
          </a:solidFill>
        </a:fill>
      </a:tcStyle>
    </a:band2H>
    <a:firstCol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434"/>
        </a:fontRef>
        <a:srgbClr val="36343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434"/>
              </a:solidFill>
              <a:prstDash val="solid"/>
              <a:round/>
            </a:ln>
          </a:top>
          <a:bottom>
            <a:ln w="25400" cap="flat">
              <a:solidFill>
                <a:srgbClr val="36343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501214"/>
          </a:solidFill>
        </a:fill>
      </a:tcStyle>
    </a:lastRow>
    <a:fir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434"/>
              </a:solidFill>
              <a:prstDash val="solid"/>
              <a:round/>
            </a:ln>
          </a:top>
          <a:bottom>
            <a:ln w="25400" cap="flat">
              <a:solidFill>
                <a:srgbClr val="36343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434"/>
        </a:fontRef>
        <a:srgbClr val="36343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rgbClr val="CCCCCC"/>
          </a:solidFill>
        </a:fill>
      </a:tcStyle>
    </a:wholeTbl>
    <a:band2H>
      <a:tcTxStyle b="def" i="def"/>
      <a:tcStyle>
        <a:tcBdr/>
        <a:fill>
          <a:solidFill>
            <a:srgbClr val="E7E7E7"/>
          </a:solidFill>
        </a:fill>
      </a:tcStyle>
    </a:band2H>
    <a:firstCol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rgbClr val="363434"/>
          </a:solidFill>
        </a:fill>
      </a:tcStyle>
    </a:firstCol>
    <a:la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38100" cap="flat">
              <a:solidFill>
                <a:srgbClr val="501214"/>
              </a:solidFill>
              <a:prstDash val="solid"/>
              <a:round/>
            </a:ln>
          </a:top>
          <a:bottom>
            <a:ln w="127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rgbClr val="363434"/>
          </a:solidFill>
        </a:fill>
      </a:tcStyle>
    </a:lastRow>
    <a:firstRow>
      <a:tcTxStyle b="on" i="off">
        <a:fontRef idx="minor">
          <a:srgbClr val="501214"/>
        </a:fontRef>
        <a:srgbClr val="501214"/>
      </a:tcTxStyle>
      <a:tcStyle>
        <a:tcBdr>
          <a:left>
            <a:ln w="12700" cap="flat">
              <a:solidFill>
                <a:srgbClr val="501214"/>
              </a:solidFill>
              <a:prstDash val="solid"/>
              <a:round/>
            </a:ln>
          </a:left>
          <a:right>
            <a:ln w="12700" cap="flat">
              <a:solidFill>
                <a:srgbClr val="501214"/>
              </a:solidFill>
              <a:prstDash val="solid"/>
              <a:round/>
            </a:ln>
          </a:right>
          <a:top>
            <a:ln w="12700" cap="flat">
              <a:solidFill>
                <a:srgbClr val="501214"/>
              </a:solidFill>
              <a:prstDash val="solid"/>
              <a:round/>
            </a:ln>
          </a:top>
          <a:bottom>
            <a:ln w="38100" cap="flat">
              <a:solidFill>
                <a:srgbClr val="501214"/>
              </a:solidFill>
              <a:prstDash val="solid"/>
              <a:round/>
            </a:ln>
          </a:bottom>
          <a:insideH>
            <a:ln w="12700" cap="flat">
              <a:solidFill>
                <a:srgbClr val="501214"/>
              </a:solidFill>
              <a:prstDash val="solid"/>
              <a:round/>
            </a:ln>
          </a:insideH>
          <a:insideV>
            <a:ln w="12700" cap="flat">
              <a:solidFill>
                <a:srgbClr val="501214"/>
              </a:solidFill>
              <a:prstDash val="solid"/>
              <a:round/>
            </a:ln>
          </a:insideV>
        </a:tcBdr>
        <a:fill>
          <a:solidFill>
            <a:srgbClr val="363434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363434"/>
        </a:fontRef>
        <a:srgbClr val="363434"/>
      </a:tcTxStyle>
      <a:tcStyle>
        <a:tcBdr>
          <a:left>
            <a:ln w="12700" cap="flat">
              <a:solidFill>
                <a:srgbClr val="363434"/>
              </a:solidFill>
              <a:prstDash val="solid"/>
              <a:round/>
            </a:ln>
          </a:left>
          <a:right>
            <a:ln w="12700" cap="flat">
              <a:solidFill>
                <a:srgbClr val="363434"/>
              </a:solidFill>
              <a:prstDash val="solid"/>
              <a:round/>
            </a:ln>
          </a:right>
          <a:top>
            <a:ln w="12700" cap="flat">
              <a:solidFill>
                <a:srgbClr val="363434"/>
              </a:solidFill>
              <a:prstDash val="solid"/>
              <a:round/>
            </a:ln>
          </a:top>
          <a:bottom>
            <a:ln w="12700" cap="flat">
              <a:solidFill>
                <a:srgbClr val="363434"/>
              </a:solidFill>
              <a:prstDash val="solid"/>
              <a:round/>
            </a:ln>
          </a:bottom>
          <a:insideH>
            <a:ln w="12700" cap="flat">
              <a:solidFill>
                <a:srgbClr val="363434"/>
              </a:solidFill>
              <a:prstDash val="solid"/>
              <a:round/>
            </a:ln>
          </a:insideH>
          <a:insideV>
            <a:ln w="12700" cap="flat">
              <a:solidFill>
                <a:srgbClr val="363434"/>
              </a:solidFill>
              <a:prstDash val="solid"/>
              <a:round/>
            </a:ln>
          </a:insideV>
        </a:tcBdr>
        <a:fill>
          <a:solidFill>
            <a:srgbClr val="36343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363434"/>
        </a:fontRef>
        <a:srgbClr val="363434"/>
      </a:tcTxStyle>
      <a:tcStyle>
        <a:tcBdr>
          <a:left>
            <a:ln w="12700" cap="flat">
              <a:solidFill>
                <a:srgbClr val="363434"/>
              </a:solidFill>
              <a:prstDash val="solid"/>
              <a:round/>
            </a:ln>
          </a:left>
          <a:right>
            <a:ln w="12700" cap="flat">
              <a:solidFill>
                <a:srgbClr val="363434"/>
              </a:solidFill>
              <a:prstDash val="solid"/>
              <a:round/>
            </a:ln>
          </a:right>
          <a:top>
            <a:ln w="12700" cap="flat">
              <a:solidFill>
                <a:srgbClr val="363434"/>
              </a:solidFill>
              <a:prstDash val="solid"/>
              <a:round/>
            </a:ln>
          </a:top>
          <a:bottom>
            <a:ln w="12700" cap="flat">
              <a:solidFill>
                <a:srgbClr val="363434"/>
              </a:solidFill>
              <a:prstDash val="solid"/>
              <a:round/>
            </a:ln>
          </a:bottom>
          <a:insideH>
            <a:ln w="12700" cap="flat">
              <a:solidFill>
                <a:srgbClr val="363434"/>
              </a:solidFill>
              <a:prstDash val="solid"/>
              <a:round/>
            </a:ln>
          </a:insideH>
          <a:insideV>
            <a:ln w="12700" cap="flat">
              <a:solidFill>
                <a:srgbClr val="363434"/>
              </a:solidFill>
              <a:prstDash val="solid"/>
              <a:round/>
            </a:ln>
          </a:insideV>
        </a:tcBdr>
        <a:fill>
          <a:solidFill>
            <a:srgbClr val="363434">
              <a:alpha val="20000"/>
            </a:srgbClr>
          </a:solidFill>
        </a:fill>
      </a:tcStyle>
    </a:firstCol>
    <a:lastRow>
      <a:tcTxStyle b="on" i="off">
        <a:fontRef idx="minor">
          <a:srgbClr val="363434"/>
        </a:fontRef>
        <a:srgbClr val="363434"/>
      </a:tcTxStyle>
      <a:tcStyle>
        <a:tcBdr>
          <a:left>
            <a:ln w="12700" cap="flat">
              <a:solidFill>
                <a:srgbClr val="363434"/>
              </a:solidFill>
              <a:prstDash val="solid"/>
              <a:round/>
            </a:ln>
          </a:left>
          <a:right>
            <a:ln w="12700" cap="flat">
              <a:solidFill>
                <a:srgbClr val="363434"/>
              </a:solidFill>
              <a:prstDash val="solid"/>
              <a:round/>
            </a:ln>
          </a:right>
          <a:top>
            <a:ln w="50800" cap="flat">
              <a:solidFill>
                <a:srgbClr val="363434"/>
              </a:solidFill>
              <a:prstDash val="solid"/>
              <a:round/>
            </a:ln>
          </a:top>
          <a:bottom>
            <a:ln w="12700" cap="flat">
              <a:solidFill>
                <a:srgbClr val="363434"/>
              </a:solidFill>
              <a:prstDash val="solid"/>
              <a:round/>
            </a:ln>
          </a:bottom>
          <a:insideH>
            <a:ln w="12700" cap="flat">
              <a:solidFill>
                <a:srgbClr val="363434"/>
              </a:solidFill>
              <a:prstDash val="solid"/>
              <a:round/>
            </a:ln>
          </a:insideH>
          <a:insideV>
            <a:ln w="12700" cap="flat">
              <a:solidFill>
                <a:srgbClr val="36343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363434"/>
        </a:fontRef>
        <a:srgbClr val="363434"/>
      </a:tcTxStyle>
      <a:tcStyle>
        <a:tcBdr>
          <a:left>
            <a:ln w="12700" cap="flat">
              <a:solidFill>
                <a:srgbClr val="363434"/>
              </a:solidFill>
              <a:prstDash val="solid"/>
              <a:round/>
            </a:ln>
          </a:left>
          <a:right>
            <a:ln w="12700" cap="flat">
              <a:solidFill>
                <a:srgbClr val="363434"/>
              </a:solidFill>
              <a:prstDash val="solid"/>
              <a:round/>
            </a:ln>
          </a:right>
          <a:top>
            <a:ln w="12700" cap="flat">
              <a:solidFill>
                <a:srgbClr val="363434"/>
              </a:solidFill>
              <a:prstDash val="solid"/>
              <a:round/>
            </a:ln>
          </a:top>
          <a:bottom>
            <a:ln w="25400" cap="flat">
              <a:solidFill>
                <a:srgbClr val="363434"/>
              </a:solidFill>
              <a:prstDash val="solid"/>
              <a:round/>
            </a:ln>
          </a:bottom>
          <a:insideH>
            <a:ln w="12700" cap="flat">
              <a:solidFill>
                <a:srgbClr val="363434"/>
              </a:solidFill>
              <a:prstDash val="solid"/>
              <a:round/>
            </a:ln>
          </a:insideH>
          <a:insideV>
            <a:ln w="12700" cap="flat">
              <a:solidFill>
                <a:srgbClr val="36343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5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1" name="Shape 5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ost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/>
          <p:nvPr>
            <p:ph type="body" sz="quarter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5" name="Text Placeholder 34"/>
          <p:cNvSpPr/>
          <p:nvPr>
            <p:ph type="body" sz="quarter" idx="21" hasCustomPrompt="1"/>
          </p:nvPr>
        </p:nvSpPr>
        <p:spPr>
          <a:xfrm>
            <a:off x="29220659" y="21247101"/>
            <a:ext cx="3254829" cy="4114803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16" name="Text Placeholder 34"/>
          <p:cNvSpPr/>
          <p:nvPr>
            <p:ph type="body" sz="quarter" idx="22" hasCustomPrompt="1"/>
          </p:nvPr>
        </p:nvSpPr>
        <p:spPr>
          <a:xfrm>
            <a:off x="29228597" y="16800512"/>
            <a:ext cx="3254829" cy="4114804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17" name="Text Placeholder 34"/>
          <p:cNvSpPr/>
          <p:nvPr>
            <p:ph type="body" sz="quarter" idx="23" hasCustomPrompt="1"/>
          </p:nvPr>
        </p:nvSpPr>
        <p:spPr>
          <a:xfrm>
            <a:off x="11415711" y="30191757"/>
            <a:ext cx="10058401" cy="1812247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18" name="Text Placeholder 34"/>
          <p:cNvSpPr/>
          <p:nvPr>
            <p:ph type="body" sz="quarter" idx="24" hasCustomPrompt="1"/>
          </p:nvPr>
        </p:nvSpPr>
        <p:spPr>
          <a:xfrm>
            <a:off x="11415713" y="21298582"/>
            <a:ext cx="3254829" cy="4114803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19" name="Text Placeholder 34"/>
          <p:cNvSpPr/>
          <p:nvPr>
            <p:ph type="body" sz="quarter" idx="25" hasCustomPrompt="1"/>
          </p:nvPr>
        </p:nvSpPr>
        <p:spPr>
          <a:xfrm>
            <a:off x="18204316" y="16800512"/>
            <a:ext cx="3254829" cy="4114804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20" name="Text Placeholder 29"/>
          <p:cNvSpPr/>
          <p:nvPr>
            <p:ph type="body" sz="quarter" idx="26" hasCustomPrompt="1"/>
          </p:nvPr>
        </p:nvSpPr>
        <p:spPr>
          <a:xfrm>
            <a:off x="914399" y="3546473"/>
            <a:ext cx="42062401" cy="649925"/>
          </a:xfrm>
          <a:prstGeom prst="rect">
            <a:avLst/>
          </a:prstGeom>
          <a:noFill/>
        </p:spPr>
        <p:txBody>
          <a:bodyPr anchor="t"/>
          <a:lstStyle>
            <a:lvl1pPr defTabSz="4037989">
              <a:spcBef>
                <a:spcPts val="4400"/>
              </a:spcBef>
              <a:defRPr i="0" sz="3600">
                <a:solidFill>
                  <a:srgbClr val="FFFFFF"/>
                </a:solidFill>
              </a:defRPr>
            </a:lvl1pPr>
          </a:lstStyle>
          <a:p>
            <a:pPr/>
            <a:r>
              <a:t>Department of {Insert Name Here}, College {Insert Name Here}, Texas State University</a:t>
            </a:r>
          </a:p>
        </p:txBody>
      </p:sp>
      <p:sp>
        <p:nvSpPr>
          <p:cNvPr id="21" name="Text Placeholder 27"/>
          <p:cNvSpPr/>
          <p:nvPr>
            <p:ph type="body" sz="quarter" idx="27" hasCustomPrompt="1"/>
          </p:nvPr>
        </p:nvSpPr>
        <p:spPr>
          <a:xfrm>
            <a:off x="914399" y="2537430"/>
            <a:ext cx="42062401" cy="928716"/>
          </a:xfrm>
          <a:prstGeom prst="rect">
            <a:avLst/>
          </a:prstGeom>
          <a:noFill/>
        </p:spPr>
        <p:txBody>
          <a:bodyPr anchor="t"/>
          <a:lstStyle>
            <a:lvl1pPr defTabSz="3994098">
              <a:spcBef>
                <a:spcPts val="4300"/>
              </a:spcBef>
              <a:defRPr i="0" sz="5400">
                <a:solidFill>
                  <a:srgbClr val="FFFFFF"/>
                </a:solidFill>
              </a:defRPr>
            </a:lvl1pPr>
          </a:lstStyle>
          <a:p>
            <a:pPr/>
            <a:r>
              <a:t>Presenter Name, Associates and Collaborators</a:t>
            </a:r>
          </a:p>
        </p:txBody>
      </p:sp>
      <p:sp>
        <p:nvSpPr>
          <p:cNvPr id="22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ost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traight Connector 10"/>
          <p:cNvSpPr/>
          <p:nvPr/>
        </p:nvSpPr>
        <p:spPr>
          <a:xfrm>
            <a:off x="-2" y="5009319"/>
            <a:ext cx="43891202" cy="2"/>
          </a:xfrm>
          <a:prstGeom prst="line">
            <a:avLst/>
          </a:prstGeom>
          <a:ln w="63500">
            <a:solidFill>
              <a:schemeClr val="accent1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31" name="Picture 12" descr="Picture 1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3383329" y="28823446"/>
            <a:ext cx="9144004" cy="2053735"/>
          </a:xfrm>
          <a:prstGeom prst="rect">
            <a:avLst/>
          </a:prstGeom>
          <a:ln w="12700">
            <a:miter lim="400000"/>
          </a:ln>
        </p:spPr>
      </p:pic>
      <p:pic>
        <p:nvPicPr>
          <p:cNvPr id="32" name="Picture 14" descr="Picture 1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3383329" y="31367266"/>
            <a:ext cx="9593471" cy="636737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Rectangle 40"/>
          <p:cNvSpPr/>
          <p:nvPr/>
        </p:nvSpPr>
        <p:spPr>
          <a:xfrm>
            <a:off x="0" y="0"/>
            <a:ext cx="43891200" cy="457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pPr>
          </a:p>
        </p:txBody>
      </p:sp>
      <p:pic>
        <p:nvPicPr>
          <p:cNvPr id="34" name="Picture 41" descr="Picture 4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-457202" y="4968754"/>
            <a:ext cx="44805601" cy="36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5" name="Body Level One…"/>
          <p:cNvSpPr txBox="1"/>
          <p:nvPr>
            <p:ph type="body" sz="quarter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6" name="Text Placeholder 34"/>
          <p:cNvSpPr/>
          <p:nvPr>
            <p:ph type="body" sz="quarter" idx="21" hasCustomPrompt="1"/>
          </p:nvPr>
        </p:nvSpPr>
        <p:spPr>
          <a:xfrm>
            <a:off x="29220659" y="21247101"/>
            <a:ext cx="3254829" cy="4114803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37" name="Text Placeholder 34"/>
          <p:cNvSpPr/>
          <p:nvPr>
            <p:ph type="body" sz="quarter" idx="22" hasCustomPrompt="1"/>
          </p:nvPr>
        </p:nvSpPr>
        <p:spPr>
          <a:xfrm>
            <a:off x="29228597" y="16800514"/>
            <a:ext cx="3254829" cy="4114803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38" name="Text Placeholder 34"/>
          <p:cNvSpPr/>
          <p:nvPr>
            <p:ph type="body" sz="quarter" idx="23" hasCustomPrompt="1"/>
          </p:nvPr>
        </p:nvSpPr>
        <p:spPr>
          <a:xfrm>
            <a:off x="11415710" y="30191757"/>
            <a:ext cx="10058403" cy="1812247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39" name="Text Placeholder 34"/>
          <p:cNvSpPr/>
          <p:nvPr>
            <p:ph type="body" sz="quarter" idx="24" hasCustomPrompt="1"/>
          </p:nvPr>
        </p:nvSpPr>
        <p:spPr>
          <a:xfrm>
            <a:off x="11415713" y="21298582"/>
            <a:ext cx="3254829" cy="4114803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40" name="Text Placeholder 34"/>
          <p:cNvSpPr/>
          <p:nvPr>
            <p:ph type="body" sz="quarter" idx="25" hasCustomPrompt="1"/>
          </p:nvPr>
        </p:nvSpPr>
        <p:spPr>
          <a:xfrm>
            <a:off x="18204316" y="16800514"/>
            <a:ext cx="3254829" cy="4114803"/>
          </a:xfrm>
          <a:prstGeom prst="rect">
            <a:avLst/>
          </a:prstGeom>
        </p:spPr>
        <p:txBody>
          <a:bodyPr/>
          <a:lstStyle/>
          <a:p>
            <a:pPr/>
            <a:r>
              <a:t>This is the suggested format for captions.
Duis autem vel eum iriure dolor in hendrerit in vulputate velit esse molestie consequat.</a:t>
            </a:r>
          </a:p>
        </p:txBody>
      </p:sp>
      <p:sp>
        <p:nvSpPr>
          <p:cNvPr id="41" name="Text Placeholder 29"/>
          <p:cNvSpPr/>
          <p:nvPr>
            <p:ph type="body" sz="quarter" idx="26" hasCustomPrompt="1"/>
          </p:nvPr>
        </p:nvSpPr>
        <p:spPr>
          <a:xfrm>
            <a:off x="914399" y="3546473"/>
            <a:ext cx="42062401" cy="649925"/>
          </a:xfrm>
          <a:prstGeom prst="rect">
            <a:avLst/>
          </a:prstGeom>
          <a:noFill/>
        </p:spPr>
        <p:txBody>
          <a:bodyPr anchor="t"/>
          <a:lstStyle>
            <a:lvl1pPr defTabSz="4037989">
              <a:spcBef>
                <a:spcPts val="4400"/>
              </a:spcBef>
              <a:defRPr i="0" sz="3600"/>
            </a:lvl1pPr>
          </a:lstStyle>
          <a:p>
            <a:pPr/>
            <a:r>
              <a:t>Department of {Insert Name Here}, College {Insert Name Here}, Texas State University</a:t>
            </a:r>
          </a:p>
        </p:txBody>
      </p:sp>
      <p:sp>
        <p:nvSpPr>
          <p:cNvPr id="42" name="Text Placeholder 27"/>
          <p:cNvSpPr/>
          <p:nvPr>
            <p:ph type="body" sz="quarter" idx="27" hasCustomPrompt="1"/>
          </p:nvPr>
        </p:nvSpPr>
        <p:spPr>
          <a:xfrm>
            <a:off x="914399" y="2537430"/>
            <a:ext cx="42062401" cy="928716"/>
          </a:xfrm>
          <a:prstGeom prst="rect">
            <a:avLst/>
          </a:prstGeom>
          <a:noFill/>
        </p:spPr>
        <p:txBody>
          <a:bodyPr anchor="t"/>
          <a:lstStyle>
            <a:lvl1pPr defTabSz="3994098">
              <a:spcBef>
                <a:spcPts val="4300"/>
              </a:spcBef>
              <a:defRPr i="0" sz="5400"/>
            </a:lvl1pPr>
          </a:lstStyle>
          <a:p>
            <a:pPr/>
            <a:r>
              <a:t>Presenter Name, Associates and Collaborators</a:t>
            </a:r>
          </a:p>
        </p:txBody>
      </p:sp>
      <p:sp>
        <p:nvSpPr>
          <p:cNvPr id="43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44" name="Slide Number"/>
          <p:cNvSpPr txBox="1"/>
          <p:nvPr>
            <p:ph type="sldNum" sz="quarter" idx="2"/>
          </p:nvPr>
        </p:nvSpPr>
        <p:spPr>
          <a:xfrm>
            <a:off x="31181708" y="30375859"/>
            <a:ext cx="273653" cy="2692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50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0"/>
          <p:cNvSpPr/>
          <p:nvPr/>
        </p:nvSpPr>
        <p:spPr>
          <a:xfrm>
            <a:off x="-1" y="5009319"/>
            <a:ext cx="43891206" cy="3"/>
          </a:xfrm>
          <a:prstGeom prst="line">
            <a:avLst/>
          </a:prstGeom>
          <a:ln w="63500">
            <a:solidFill>
              <a:schemeClr val="accent1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3" name="Picture 12" descr="Picture 1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3383329" y="28823446"/>
            <a:ext cx="9144004" cy="2053735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Picture 14" descr="Picture 1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3383329" y="31367266"/>
            <a:ext cx="9593471" cy="636737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Body Level One…"/>
          <p:cNvSpPr txBox="1"/>
          <p:nvPr>
            <p:ph type="body" idx="1" hasCustomPrompt="1"/>
          </p:nvPr>
        </p:nvSpPr>
        <p:spPr>
          <a:xfrm>
            <a:off x="22417089" y="30175200"/>
            <a:ext cx="10058401" cy="181224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This is the suggested format for captions.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" name="Title Text"/>
          <p:cNvSpPr txBox="1"/>
          <p:nvPr>
            <p:ph type="title"/>
          </p:nvPr>
        </p:nvSpPr>
        <p:spPr>
          <a:xfrm>
            <a:off x="914400" y="914400"/>
            <a:ext cx="42062400" cy="17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7" name="Slide Number"/>
          <p:cNvSpPr txBox="1"/>
          <p:nvPr>
            <p:ph type="sldNum" sz="quarter" idx="2"/>
          </p:nvPr>
        </p:nvSpPr>
        <p:spPr>
          <a:xfrm>
            <a:off x="31181711" y="30375862"/>
            <a:ext cx="273653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  <p:sldLayoutId id="2147483650" r:id="rId5"/>
  </p:sldLayoutIdLst>
  <p:transition xmlns:p14="http://schemas.microsoft.com/office/powerpoint/2010/main" spd="med" advClick="1"/>
  <p:txStyles>
    <p:titleStyle>
      <a:lvl1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438912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400" u="none">
          <a:solidFill>
            <a:schemeClr val="accent1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0" marR="0" indent="0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Tx/>
        <a:buFontTx/>
        <a:buNone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1pPr>
      <a:lvl2pPr marL="2394933" marR="0" indent="-200372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Pct val="100000"/>
        <a:buFontTx/>
        <a:buChar char="•"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2pPr>
      <a:lvl3pPr marL="4629150" marR="0" indent="-240029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Pct val="100000"/>
        <a:buFontTx/>
        <a:buChar char="•"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3pPr>
      <a:lvl4pPr marL="6851618" marR="0" indent="-267940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Pct val="100000"/>
        <a:buFontTx/>
        <a:buChar char="•"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4pPr>
      <a:lvl5pPr marL="9046178" marR="0" indent="-267940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Pct val="100000"/>
        <a:buFontTx/>
        <a:buChar char="•"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5pPr>
      <a:lvl6pPr marL="11240740" marR="0" indent="-267940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Pct val="100000"/>
        <a:buFontTx/>
        <a:buChar char="•"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6pPr>
      <a:lvl7pPr marL="13435299" marR="0" indent="-267940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Pct val="100000"/>
        <a:buFontTx/>
        <a:buChar char="•"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7pPr>
      <a:lvl8pPr marL="15629858" marR="0" indent="-267940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Pct val="100000"/>
        <a:buFontTx/>
        <a:buChar char="•"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8pPr>
      <a:lvl9pPr marL="17824420" marR="0" indent="-267940" algn="l" defTabSz="4389120" rtl="0" latinLnBrk="0">
        <a:lnSpc>
          <a:spcPct val="90000"/>
        </a:lnSpc>
        <a:spcBef>
          <a:spcPts val="1800"/>
        </a:spcBef>
        <a:spcAft>
          <a:spcPts val="0"/>
        </a:spcAft>
        <a:buClrTx/>
        <a:buSzPct val="100000"/>
        <a:buFontTx/>
        <a:buChar char="•"/>
        <a:tabLst/>
        <a:defRPr b="0" baseline="0" cap="none" i="1" spc="0" strike="noStrike" sz="2100" u="none">
          <a:solidFill>
            <a:srgbClr val="363434"/>
          </a:solidFill>
          <a:uFillTx/>
          <a:latin typeface="Aptos"/>
          <a:ea typeface="Aptos"/>
          <a:cs typeface="Apto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Placeholder 53"/>
          <p:cNvSpPr txBox="1"/>
          <p:nvPr>
            <p:ph type="body" sz="quarter" idx="1"/>
          </p:nvPr>
        </p:nvSpPr>
        <p:spPr>
          <a:xfrm>
            <a:off x="195025" y="30276675"/>
            <a:ext cx="10433495" cy="2328516"/>
          </a:xfrm>
          <a:prstGeom prst="rect">
            <a:avLst/>
          </a:prstGeom>
        </p:spPr>
        <p:txBody>
          <a:bodyPr/>
          <a:lstStyle/>
          <a:p>
            <a:pPr/>
            <a:r>
              <a:t>Recruitment opportunity map, recruitment opportunity score based off of Opportunity_Score = (Market_Size_Score × 0.50) + (Growth_Potential × 0.30) + (Breakable_Market × 0.20)</a:t>
            </a:r>
            <a:br/>
            <a:r>
              <a:t>Market_Size_Score is the number of students that have graduated from that county from 2019-2024, Growth_Potential Gap between TXST's current share and a </a:t>
            </a:r>
            <a:r>
              <a:rPr b="1"/>
              <a:t>target share of 17%</a:t>
            </a:r>
            <a:r>
              <a:t>, Breakable_Market is the total market percentage minus the dominant school, </a:t>
            </a:r>
          </a:p>
        </p:txBody>
      </p:sp>
      <p:sp>
        <p:nvSpPr>
          <p:cNvPr id="54" name="Text Placeholder 34"/>
          <p:cNvSpPr/>
          <p:nvPr>
            <p:ph type="body" idx="22"/>
          </p:nvPr>
        </p:nvSpPr>
        <p:spPr>
          <a:xfrm>
            <a:off x="19146235" y="28150818"/>
            <a:ext cx="3254830" cy="411480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SAT/ACT Test Participation Rates by County - Percentage of graduates taking college entrance exams. Blue counties show high college-going culture; red counties indicate lower test-taking engagement. Hover view shows college readiness metrics.</a:t>
            </a:r>
          </a:p>
        </p:txBody>
      </p:sp>
      <p:sp>
        <p:nvSpPr>
          <p:cNvPr id="55" name="Text Placeholder 33"/>
          <p:cNvSpPr/>
          <p:nvPr>
            <p:ph type="body" idx="23"/>
          </p:nvPr>
        </p:nvSpPr>
        <p:spPr>
          <a:xfrm>
            <a:off x="23984207" y="17285749"/>
            <a:ext cx="9144003" cy="17417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algn="ctr" defTabSz="4081881">
              <a:spcBef>
                <a:spcPts val="1600"/>
              </a:spcBef>
              <a:defRPr sz="1900"/>
            </a:lvl1pPr>
          </a:lstStyle>
          <a:p>
            <a:pPr/>
            <a:r>
              <a:t>Counties classified into recruitment priority tiers based on a composite opportunity score combining academic performance (College Readiness and TSI Ready rates), market size (total graduates), current TXST market share, and test participation rates. Tier 1 (Gold) = highest priority targets with strong academics, large markets, and low TXST presence. Lower tiers indicate smaller markets or areas where TXST already has strong enrollment.</a:t>
            </a:r>
          </a:p>
        </p:txBody>
      </p:sp>
      <p:sp>
        <p:nvSpPr>
          <p:cNvPr id="56" name="Text Placeholder 32"/>
          <p:cNvSpPr/>
          <p:nvPr>
            <p:ph type="body" idx="24"/>
          </p:nvPr>
        </p:nvSpPr>
        <p:spPr>
          <a:xfrm>
            <a:off x="30026570" y="28150818"/>
            <a:ext cx="3254829" cy="411480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Texas County Dominance by University" Shows which university enrolls the most graduates from each county. Colors represent different institutions and reveal geographic recruitment territories across Texas.</a:t>
            </a:r>
          </a:p>
        </p:txBody>
      </p:sp>
      <p:sp>
        <p:nvSpPr>
          <p:cNvPr id="57" name="Text Placeholder 31"/>
          <p:cNvSpPr/>
          <p:nvPr>
            <p:ph type="body" idx="25"/>
          </p:nvPr>
        </p:nvSpPr>
        <p:spPr>
          <a:xfrm>
            <a:off x="10508267" y="24736607"/>
            <a:ext cx="8581581" cy="203085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 defTabSz="3994098">
              <a:spcBef>
                <a:spcPts val="1600"/>
              </a:spcBef>
              <a:defRPr sz="1900"/>
            </a:pPr>
          </a:p>
          <a:p>
            <a:pPr defTabSz="3994098">
              <a:spcBef>
                <a:spcPts val="1600"/>
              </a:spcBef>
              <a:defRPr sz="1900"/>
            </a:pPr>
            <a:r>
              <a:t>TSI Readiness Performance by County - Percentage of graduates meeting Texas Success Initiative standards in both Math and Reading/Writing. Higher rates indicate students ready for college-level coursework without remediation.</a:t>
            </a:r>
          </a:p>
        </p:txBody>
      </p:sp>
      <p:sp>
        <p:nvSpPr>
          <p:cNvPr id="58" name="Text Placeholder 30"/>
          <p:cNvSpPr/>
          <p:nvPr>
            <p:ph type="body" idx="26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Department of Computer Science, College Science and Engineering, Texas State University</a:t>
            </a:r>
          </a:p>
        </p:txBody>
      </p:sp>
      <p:sp>
        <p:nvSpPr>
          <p:cNvPr id="59" name="Text Placeholder 29"/>
          <p:cNvSpPr/>
          <p:nvPr>
            <p:ph type="body" idx="27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Chloe Jones, Nav Sharma, Stephen Cox</a:t>
            </a:r>
          </a:p>
        </p:txBody>
      </p:sp>
      <p:sp>
        <p:nvSpPr>
          <p:cNvPr id="60" name="Title 1"/>
          <p:cNvSpPr txBox="1"/>
          <p:nvPr>
            <p:ph type="title"/>
          </p:nvPr>
        </p:nvSpPr>
        <p:spPr>
          <a:xfrm>
            <a:off x="914400" y="914400"/>
            <a:ext cx="42062400" cy="1741710"/>
          </a:xfrm>
          <a:prstGeom prst="rect">
            <a:avLst/>
          </a:prstGeom>
        </p:spPr>
        <p:txBody>
          <a:bodyPr/>
          <a:lstStyle>
            <a:lvl1pPr defTabSz="4169664">
              <a:defRPr sz="9800"/>
            </a:lvl1pPr>
          </a:lstStyle>
          <a:p>
            <a:pPr/>
            <a:r>
              <a:t>Identifying High-Performing Texas Counties for Strategic Enrollment Growth</a:t>
            </a:r>
          </a:p>
        </p:txBody>
      </p:sp>
      <p:grpSp>
        <p:nvGrpSpPr>
          <p:cNvPr id="63" name="TextBox 4"/>
          <p:cNvGrpSpPr/>
          <p:nvPr/>
        </p:nvGrpSpPr>
        <p:grpSpPr>
          <a:xfrm>
            <a:off x="839770" y="5650317"/>
            <a:ext cx="9144005" cy="10472639"/>
            <a:chOff x="0" y="-1"/>
            <a:chExt cx="9144003" cy="10472637"/>
          </a:xfrm>
        </p:grpSpPr>
        <p:sp>
          <p:nvSpPr>
            <p:cNvPr id="61" name="Rectangle"/>
            <p:cNvSpPr/>
            <p:nvPr/>
          </p:nvSpPr>
          <p:spPr>
            <a:xfrm>
              <a:off x="-1" y="-2"/>
              <a:ext cx="9144005" cy="1047263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" name="Problem Statement…"/>
            <p:cNvSpPr txBox="1"/>
            <p:nvPr/>
          </p:nvSpPr>
          <p:spPr>
            <a:xfrm>
              <a:off x="45717" y="-2"/>
              <a:ext cx="9052566" cy="100101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>
                <a:defRPr b="1" sz="4200">
                  <a:latin typeface="Aptos"/>
                  <a:ea typeface="Aptos"/>
                  <a:cs typeface="Aptos"/>
                  <a:sym typeface="Aptos"/>
                </a:defRPr>
              </a:pPr>
              <a:r>
                <a:t>Problem Statement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As Texas State University pursues Research 1 (R1) classification and works to elevate its academic prestige, attracting high-performing students becomes increasingly critical to institutional advancement. TXST faces intensifying competition from established peer institutions such as UT Austin, Texas A&amp;M, and Texas Tech for top-tier students across Texas. This project analyzes the spatial distribution of college-ready students using county-level SAT/ACT data to identify strategic recruitment opportunities. By mapping TXST's competitive positioning and market share across Texas regions, we reveal high-opportunity counties with strong student performance but limited TXST presence, providing data-driven recommendations to support strategic enrollment growth.</a:t>
              </a:r>
              <a:endParaRPr b="1"/>
            </a:p>
            <a:p>
              <a:pPr>
                <a:lnSpc>
                  <a:spcPct val="150000"/>
                </a:lnSpc>
                <a:defRPr b="1"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Research Statement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What is the spatial distribution of college ready students across Texas, and which counties represent the highest-opportunity markets for TXST recruitment given competitive enrollment patterns?</a:t>
              </a:r>
            </a:p>
          </p:txBody>
        </p:sp>
      </p:grpSp>
      <p:grpSp>
        <p:nvGrpSpPr>
          <p:cNvPr id="67" name="TextBox 5"/>
          <p:cNvGrpSpPr/>
          <p:nvPr/>
        </p:nvGrpSpPr>
        <p:grpSpPr>
          <a:xfrm>
            <a:off x="812982" y="16493012"/>
            <a:ext cx="9135347" cy="13400906"/>
            <a:chOff x="-1" y="0"/>
            <a:chExt cx="9135346" cy="13400904"/>
          </a:xfrm>
        </p:grpSpPr>
        <p:sp>
          <p:nvSpPr>
            <p:cNvPr id="64" name="Rectangle"/>
            <p:cNvSpPr/>
            <p:nvPr/>
          </p:nvSpPr>
          <p:spPr>
            <a:xfrm>
              <a:off x="-2" y="-1"/>
              <a:ext cx="9135347" cy="8424682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" name="Data Sources…"/>
            <p:cNvSpPr txBox="1"/>
            <p:nvPr/>
          </p:nvSpPr>
          <p:spPr>
            <a:xfrm>
              <a:off x="45675" y="-1"/>
              <a:ext cx="9043993" cy="83972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>
                <a:defRPr b="1" sz="4200">
                  <a:latin typeface="Aptos"/>
                  <a:ea typeface="Aptos"/>
                  <a:cs typeface="Aptos"/>
                  <a:sym typeface="Aptos"/>
                </a:defRPr>
              </a:pPr>
              <a:r>
                <a:t>Data Sources </a:t>
              </a:r>
            </a:p>
            <a:p>
              <a:pPr>
                <a:lnSpc>
                  <a:spcPct val="150000"/>
                </a:lnSpc>
                <a:defRPr b="1"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THECB High School Graduate Enrollment Data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County-level enrollment data from the Texas Higher Education Coordinating Board tracking where 36,175 rows containing 951,423 Texas high school graduates enrolled across 325+ institutions and from 2019-2024. Includes enrollment counts by county, district, and institution.</a:t>
              </a:r>
            </a:p>
            <a:p>
              <a:pPr>
                <a:spcBef>
                  <a:spcPts val="1200"/>
                </a:spcBef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>
                <a:lnSpc>
                  <a:spcPct val="150000"/>
                </a:lnSpc>
                <a:defRPr b="1"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TEA College Readiness Data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2024 district-level academic performance data from the Texas Education Agency tracking SAT/ACT outcomes across 1,058 school districts in 252 Texas counties. Metrics include test participation rates (70.3% average), college readiness benchmarks (16.5% average achieving critical scores), and TSI dual-subject readiness (26.7% average meeting standards in both Math and Reading/Writing).</a:t>
              </a:r>
            </a:p>
          </p:txBody>
        </p:sp>
        <p:pic>
          <p:nvPicPr>
            <p:cNvPr id="66" name="Screenshot 2026-02-10 at 12.32.03 AM.png" descr="Screenshot 2026-02-10 at 12.32.03 AM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848167" y="8636584"/>
              <a:ext cx="6712751" cy="476432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70" name="TextBox 6"/>
          <p:cNvGrpSpPr/>
          <p:nvPr/>
        </p:nvGrpSpPr>
        <p:grpSpPr>
          <a:xfrm>
            <a:off x="10208876" y="5650319"/>
            <a:ext cx="12868689" cy="17068294"/>
            <a:chOff x="0" y="0"/>
            <a:chExt cx="12868687" cy="17068292"/>
          </a:xfrm>
        </p:grpSpPr>
        <p:sp>
          <p:nvSpPr>
            <p:cNvPr id="68" name="Rectangle"/>
            <p:cNvSpPr/>
            <p:nvPr/>
          </p:nvSpPr>
          <p:spPr>
            <a:xfrm>
              <a:off x="0" y="0"/>
              <a:ext cx="12868688" cy="1384730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" name="Methods…"/>
            <p:cNvSpPr txBox="1"/>
            <p:nvPr/>
          </p:nvSpPr>
          <p:spPr>
            <a:xfrm>
              <a:off x="83115" y="35056"/>
              <a:ext cx="12747928" cy="170332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>
                <a:defRPr b="1" sz="4200">
                  <a:latin typeface="Aptos"/>
                  <a:ea typeface="Aptos"/>
                  <a:cs typeface="Aptos"/>
                  <a:sym typeface="Aptos"/>
                </a:defRPr>
              </a:pPr>
              <a:r>
                <a:t>Methods</a:t>
              </a:r>
            </a:p>
            <a:p>
              <a:pPr>
                <a:lnSpc>
                  <a:spcPct val="150000"/>
                </a:lnSpc>
                <a:defRPr b="1"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Data Processing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Cleaned and standardized county names across THECB enrollment and TEA SAT/ACT datasets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Removed non-college categories from enrollment data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Aggregated district-level SAT/ACT data to county level using mean performance rates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Calculated market share for TXST and seven competitor institutions per county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Merged enrollment and academic performance data on county</a:t>
              </a:r>
            </a:p>
            <a:p>
              <a:pPr>
                <a:lnSpc>
                  <a:spcPct val="150000"/>
                </a:lnSpc>
                <a:defRPr b="1"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Opportunity Scoring Two composite scoring approaches developed:</a:t>
              </a:r>
            </a:p>
            <a:p>
              <a:pPr marL="374314" indent="-374314">
                <a:buSzPct val="100000"/>
                <a:buAutoNum type="arabicPeriod" startAt="1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Enrollment-Only: Market Size (50%), Growth Potential to 17% target (30%), Breakable Market (20%)</a:t>
              </a:r>
            </a:p>
            <a:p>
              <a:pPr marL="374314" indent="-374314">
                <a:buSzPct val="100000"/>
                <a:buAutoNum type="arabicPeriod" startAt="1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Combined Academic + Enrollment: Academic Performance (40%), Market Size (30%), TXST Gap (20%), Test Participation (10%)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All components normalized to 0-100 scale</a:t>
              </a:r>
            </a:p>
            <a:p>
              <a:pPr>
                <a:lnSpc>
                  <a:spcPct val="150000"/>
                </a:lnSpc>
                <a:defRPr b="1"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Tier Classification Counties classified into five strategic tiers based on: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High Academic Performance (College Ready ≥25%)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Large Market (&gt;2,000 students)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Low TXST Presence (&lt;10% share)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Tier 1 (Prime): All three criteria met Tier 2: High academics + Low TXST Tier 3: High academics (TXST present) Tier 4: Large market + Low TXST Tier 5: Maintain/Monitor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</a:p>
            <a:p>
              <a:pPr>
                <a:spcBef>
                  <a:spcPts val="1200"/>
                </a:spcBef>
                <a:defRPr b="1"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Visualization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 Interactive choropleth maps created using Plotly and Census TIGER/Line 2020 shapefiles, displaying county-level academic performance, enrollment patterns, and strategic recruitment priorities.</a:t>
              </a:r>
            </a:p>
            <a:p>
              <a:pPr>
                <a:spcBef>
                  <a:spcPts val="1200"/>
                </a:spcBef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>
                <a:spcBef>
                  <a:spcPts val="1200"/>
                </a:spcBef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 algn="ctr">
                <a:defRPr sz="1100">
                  <a:solidFill>
                    <a:srgbClr val="000000">
                      <a:alpha val="84705"/>
                    </a:srgbClr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  <a:p>
              <a:pPr algn="ctr">
                <a:defRPr sz="1100">
                  <a:solidFill>
                    <a:srgbClr val="000000">
                      <a:alpha val="84705"/>
                    </a:srgbClr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  <a:p>
              <a:pPr algn="ctr">
                <a:defRPr sz="1100">
                  <a:solidFill>
                    <a:srgbClr val="000000">
                      <a:alpha val="84705"/>
                    </a:srgbClr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  <a:p>
              <a:pPr algn="ctr">
                <a:defRPr sz="1100">
                  <a:solidFill>
                    <a:srgbClr val="000000">
                      <a:alpha val="84705"/>
                    </a:srgbClr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  <a:p>
              <a:pPr algn="ctr">
                <a:defRPr sz="1100">
                  <a:solidFill>
                    <a:srgbClr val="000000">
                      <a:alpha val="84705"/>
                    </a:srgbClr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  <a:p>
              <a:pPr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 algn="ctr">
                <a:defRPr sz="1100">
                  <a:solidFill>
                    <a:srgbClr val="000000">
                      <a:alpha val="84705"/>
                    </a:srgbClr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  <a:p>
              <a:pPr algn="ctr">
                <a:defRPr sz="1100">
                  <a:solidFill>
                    <a:srgbClr val="000000">
                      <a:alpha val="84705"/>
                    </a:srgbClr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  <a:p>
              <a:pPr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  <a:p>
              <a:pPr>
                <a:defRPr sz="1200">
                  <a:solidFill>
                    <a:srgbClr val="000000"/>
                  </a:solidFill>
                  <a:latin typeface="Times Roman"/>
                  <a:ea typeface="Times Roman"/>
                  <a:cs typeface="Times Roman"/>
                  <a:sym typeface="Times Roman"/>
                </a:defRPr>
              </a:pPr>
            </a:p>
          </p:txBody>
        </p:sp>
      </p:grpSp>
      <p:grpSp>
        <p:nvGrpSpPr>
          <p:cNvPr id="73" name="TextBox 7"/>
          <p:cNvGrpSpPr/>
          <p:nvPr/>
        </p:nvGrpSpPr>
        <p:grpSpPr>
          <a:xfrm>
            <a:off x="33003479" y="5650317"/>
            <a:ext cx="9903704" cy="10226037"/>
            <a:chOff x="0" y="0"/>
            <a:chExt cx="9903703" cy="10226036"/>
          </a:xfrm>
        </p:grpSpPr>
        <p:sp>
          <p:nvSpPr>
            <p:cNvPr id="71" name="Rectangle"/>
            <p:cNvSpPr/>
            <p:nvPr/>
          </p:nvSpPr>
          <p:spPr>
            <a:xfrm>
              <a:off x="0" y="1"/>
              <a:ext cx="9903704" cy="9300807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2" name="Results…"/>
            <p:cNvSpPr txBox="1"/>
            <p:nvPr/>
          </p:nvSpPr>
          <p:spPr>
            <a:xfrm>
              <a:off x="45015" y="0"/>
              <a:ext cx="9813672" cy="10226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>
                <a:defRPr b="1" sz="4200">
                  <a:latin typeface="Aptos"/>
                  <a:ea typeface="Aptos"/>
                  <a:cs typeface="Aptos"/>
                  <a:sym typeface="Aptos"/>
                </a:defRPr>
              </a:pPr>
              <a:r>
                <a:t>Results 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THECB enrollment data and SAT/ACT readiness data were merged to create a combined dataset covering 265 Texas counties, with 229 counties containing both enrollment and academic readiness metrics.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Counties were classified into five strategic recruitment tiers based on college readiness, total student market, and Texas State (TXST) market share.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6 Tier 1 (prime target) and 20 Tier 2 (strong opportunity) counties were identified as high-growth regions where academic performance is strong but TXST presence is low.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Tier 1 counties alone represent a potential market of 85,560 students, with projected growth of +11,017 TXST students if market share increased to 15%.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Prime target counties show significantly higher academic readiness (~29.9%) compared to the statewide average (15.6%), indicating strong recruitment alignment.</a:t>
              </a: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Overall, results highlight geographically concentrated regions where targeted recruitment could substantially increase TXST enrollment.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</a:p>
            <a:p>
              <a:pPr marL="228600" indent="-228600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</p:grpSp>
      <p:grpSp>
        <p:nvGrpSpPr>
          <p:cNvPr id="76" name="TextBox 8"/>
          <p:cNvGrpSpPr/>
          <p:nvPr/>
        </p:nvGrpSpPr>
        <p:grpSpPr>
          <a:xfrm>
            <a:off x="23468519" y="5650317"/>
            <a:ext cx="9144005" cy="10886286"/>
            <a:chOff x="0" y="-1"/>
            <a:chExt cx="9144003" cy="10886285"/>
          </a:xfrm>
        </p:grpSpPr>
        <p:sp>
          <p:nvSpPr>
            <p:cNvPr id="74" name="Rectangle"/>
            <p:cNvSpPr/>
            <p:nvPr/>
          </p:nvSpPr>
          <p:spPr>
            <a:xfrm>
              <a:off x="-1" y="-1"/>
              <a:ext cx="9144005" cy="1088628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" name="Findings…"/>
            <p:cNvSpPr/>
            <p:nvPr/>
          </p:nvSpPr>
          <p:spPr>
            <a:xfrm>
              <a:off x="45717" y="-2"/>
              <a:ext cx="905256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>
                <a:defRPr b="1" sz="4200">
                  <a:latin typeface="Aptos"/>
                  <a:ea typeface="Aptos"/>
                  <a:cs typeface="Aptos"/>
                  <a:sym typeface="Aptos"/>
                </a:defRPr>
              </a:pPr>
              <a:r>
                <a:t>Findings</a:t>
              </a:r>
            </a:p>
            <a:p>
              <a:pPr marL="280735" indent="-280735">
                <a:spcBef>
                  <a:spcPts val="1200"/>
                </a:spcBef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TXST currently has strong representation in Central Texas but remains underrepresented in several high-performing, high-volume counties across North and West Texas.</a:t>
              </a:r>
            </a:p>
            <a:p>
              <a:pPr marL="280735" indent="-280735">
                <a:spcBef>
                  <a:spcPts val="1200"/>
                </a:spcBef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Prime and strong-opportunity counties demonstrate significantly higher college readiness rates than TXST-dominant regions, suggesting missed recruitment potential among academically prepared students.</a:t>
              </a:r>
            </a:p>
            <a:p>
              <a:pPr marL="280735" indent="-280735">
                <a:spcBef>
                  <a:spcPts val="1200"/>
                </a:spcBef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Large suburban counties such as Collin and Denton contain substantial student markets with low TXST market share, representing the greatest potential enrollment growth.</a:t>
              </a:r>
            </a:p>
            <a:p>
              <a:pPr marL="280735" indent="-280735">
                <a:spcBef>
                  <a:spcPts val="1200"/>
                </a:spcBef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Many high-readiness counties with low TXST presence are currently dominated by competing institutions, indicating strong but penetrable recruitment pipelines.</a:t>
              </a:r>
            </a:p>
            <a:p>
              <a:pPr marL="280735" indent="-280735">
                <a:spcBef>
                  <a:spcPts val="1200"/>
                </a:spcBef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Rural counties with smaller markets but high readiness rates provide targeted niche recruitment opportunities with relatively low competition.</a:t>
              </a:r>
            </a:p>
            <a:p>
              <a:pPr marL="280735" indent="-280735">
                <a:spcBef>
                  <a:spcPts val="1200"/>
                </a:spcBef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Overall, recruitment opportunities are not evenly distributed, with the highest-impact gains concentrated in a small number of strategically important counties.</a:t>
              </a:r>
            </a:p>
          </p:txBody>
        </p:sp>
      </p:grpSp>
      <p:grpSp>
        <p:nvGrpSpPr>
          <p:cNvPr id="79" name="TextBox 9"/>
          <p:cNvGrpSpPr/>
          <p:nvPr/>
        </p:nvGrpSpPr>
        <p:grpSpPr>
          <a:xfrm>
            <a:off x="33610795" y="15125546"/>
            <a:ext cx="9593472" cy="7635534"/>
            <a:chOff x="0" y="0"/>
            <a:chExt cx="9593471" cy="7635533"/>
          </a:xfrm>
        </p:grpSpPr>
        <p:sp>
          <p:nvSpPr>
            <p:cNvPr id="77" name="Rectangle"/>
            <p:cNvSpPr/>
            <p:nvPr/>
          </p:nvSpPr>
          <p:spPr>
            <a:xfrm>
              <a:off x="0" y="19980"/>
              <a:ext cx="9593472" cy="761555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" name="Implications…"/>
            <p:cNvSpPr txBox="1"/>
            <p:nvPr/>
          </p:nvSpPr>
          <p:spPr>
            <a:xfrm>
              <a:off x="47966" y="0"/>
              <a:ext cx="9497540" cy="76352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>
                <a:defRPr b="1" sz="4200">
                  <a:latin typeface="Aptos"/>
                  <a:ea typeface="Aptos"/>
                  <a:cs typeface="Aptos"/>
                  <a:sym typeface="Aptos"/>
                </a:defRPr>
              </a:pPr>
              <a:r>
                <a:t>Implications 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Targeted recruitment in Tier 1 counties could significantly increase TXST applications/ enrollment quality, with potential growth of over 11,000 students if market share improves.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Expanding outreach in high-readiness counties may improve academic profile and incoming student preparedness.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Increased presence in large suburban counties (e.g., Collin, Denton) could strengthen TXST’s competitiveness against dominant institutions.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Data-driven geographic targeting allows recruitment resources to be focused on high-impact regions rather than evenly distributed statewide.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Strengthening pipelines in underrepresented but high-performing counties may support long-term enrollment growth and institutional visibility.</a:t>
              </a:r>
            </a:p>
          </p:txBody>
        </p:sp>
      </p:grpSp>
      <p:grpSp>
        <p:nvGrpSpPr>
          <p:cNvPr id="82" name="TextBox 10"/>
          <p:cNvGrpSpPr/>
          <p:nvPr/>
        </p:nvGrpSpPr>
        <p:grpSpPr>
          <a:xfrm>
            <a:off x="33709480" y="23018091"/>
            <a:ext cx="9593472" cy="5537146"/>
            <a:chOff x="0" y="0"/>
            <a:chExt cx="9593471" cy="5537144"/>
          </a:xfrm>
        </p:grpSpPr>
        <p:sp>
          <p:nvSpPr>
            <p:cNvPr id="80" name="Rectangle"/>
            <p:cNvSpPr/>
            <p:nvPr/>
          </p:nvSpPr>
          <p:spPr>
            <a:xfrm>
              <a:off x="0" y="0"/>
              <a:ext cx="9593472" cy="553714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" name="Reference/Data Cite…"/>
            <p:cNvSpPr txBox="1"/>
            <p:nvPr/>
          </p:nvSpPr>
          <p:spPr>
            <a:xfrm>
              <a:off x="47965" y="9630"/>
              <a:ext cx="9497540" cy="54762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>
                <a:defRPr b="1" sz="4200">
                  <a:latin typeface="Aptos"/>
                  <a:ea typeface="Aptos"/>
                  <a:cs typeface="Aptos"/>
                  <a:sym typeface="Aptos"/>
                </a:defRPr>
              </a:pPr>
              <a:r>
                <a:t>Reference/Data Cite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Texas Higher Education Coordinating Board. "High School Graduate College Enrollment Data, 2019-2024." Dataset. Accessed February 2025. https://www.highered.texas.gov/.</a:t>
              </a:r>
            </a:p>
            <a:p>
              <a:pPr marL="280735" indent="-280735">
                <a:buSzPct val="100000"/>
                <a:buChar char="•"/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Texas Education Agency. "District-Level SAT/ACT Performance Data, 2019-2024."  Dataset. Accessed February 2025. https://tea.texas.gov/.</a:t>
              </a:r>
            </a:p>
            <a:p>
              <a:pPr>
                <a:defRPr sz="2800">
                  <a:latin typeface="Aptos"/>
                  <a:ea typeface="Aptos"/>
                  <a:cs typeface="Aptos"/>
                  <a:sym typeface="Aptos"/>
                </a:defRPr>
              </a:pPr>
              <a:r>
                <a:t>AI Disclosure: Poster content and analysis code developed with assistance from Claude (Anthropic). All outputs validated by authors.</a:t>
              </a:r>
            </a:p>
          </p:txBody>
        </p:sp>
      </p:grpSp>
      <p:pic>
        <p:nvPicPr>
          <p:cNvPr id="83" name="Screenshot 2026-02-10 at 12.34.27 AM.png" descr="Screenshot 2026-02-10 at 12.34.27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646815" y="28079346"/>
            <a:ext cx="5134007" cy="4634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84" name="Screenshot 2026-02-10 at 1.01.38 PM.png" descr="Screenshot 2026-02-10 at 1.01.38 PM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125907" y="27370915"/>
            <a:ext cx="6970267" cy="4958797"/>
          </a:xfrm>
          <a:prstGeom prst="rect">
            <a:avLst/>
          </a:prstGeom>
          <a:ln w="12700">
            <a:miter lim="400000"/>
          </a:ln>
        </p:spPr>
      </p:pic>
      <p:pic>
        <p:nvPicPr>
          <p:cNvPr id="85" name="Screenshot 2026-02-10 at 12.56.03 PM.png" descr="Screenshot 2026-02-10 at 12.56.03 PM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390680" y="19799873"/>
            <a:ext cx="6198265" cy="4634482"/>
          </a:xfrm>
          <a:prstGeom prst="rect">
            <a:avLst/>
          </a:prstGeom>
          <a:ln w="12700">
            <a:miter lim="400000"/>
          </a:ln>
        </p:spPr>
      </p:pic>
      <p:pic>
        <p:nvPicPr>
          <p:cNvPr id="86" name="Screenshot 2026-02-10 at 10.44.56 PM.png" descr="Screenshot 2026-02-10 at 10.44.56 PM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9649786" y="19650321"/>
            <a:ext cx="13488190" cy="787763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Research Poster">
  <a:themeElements>
    <a:clrScheme name="Research Poster">
      <a:dk1>
        <a:srgbClr val="363434"/>
      </a:dk1>
      <a:lt1>
        <a:srgbClr val="501214"/>
      </a:lt1>
      <a:dk2>
        <a:srgbClr val="A7A7A7"/>
      </a:dk2>
      <a:lt2>
        <a:srgbClr val="535353"/>
      </a:lt2>
      <a:accent1>
        <a:srgbClr val="D7BD8A"/>
      </a:accent1>
      <a:accent2>
        <a:srgbClr val="EB2E47"/>
      </a:accent2>
      <a:accent3>
        <a:srgbClr val="6EA095"/>
      </a:accent3>
      <a:accent4>
        <a:srgbClr val="EBBA45"/>
      </a:accent4>
      <a:accent5>
        <a:srgbClr val="EA664D"/>
      </a:accent5>
      <a:accent6>
        <a:srgbClr val="AC9155"/>
      </a:accent6>
      <a:hlink>
        <a:srgbClr val="0000FF"/>
      </a:hlink>
      <a:folHlink>
        <a:srgbClr val="FF00FF"/>
      </a:folHlink>
    </a:clrScheme>
    <a:fontScheme name="Research Poster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Research Po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012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363434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363434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Research Poster">
  <a:themeElements>
    <a:clrScheme name="Research Poster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D7BD8A"/>
      </a:accent1>
      <a:accent2>
        <a:srgbClr val="EB2E47"/>
      </a:accent2>
      <a:accent3>
        <a:srgbClr val="6EA095"/>
      </a:accent3>
      <a:accent4>
        <a:srgbClr val="EBBA45"/>
      </a:accent4>
      <a:accent5>
        <a:srgbClr val="EA664D"/>
      </a:accent5>
      <a:accent6>
        <a:srgbClr val="AC9155"/>
      </a:accent6>
      <a:hlink>
        <a:srgbClr val="0000FF"/>
      </a:hlink>
      <a:folHlink>
        <a:srgbClr val="FF00FF"/>
      </a:folHlink>
    </a:clrScheme>
    <a:fontScheme name="Research Poster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Research Po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012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363434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363434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