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Lst>
  <p:sldSz cx="43891200" cy="329184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363434"/>
        </a:fontRef>
        <a:srgbClr val="36343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F0E7D9"/>
          </a:solidFill>
        </a:fill>
      </a:tcStyle>
    </a:wholeTbl>
    <a:band2H>
      <a:tcTxStyle b="def" i="def"/>
      <a:tcStyle>
        <a:tcBdr/>
        <a:fill>
          <a:solidFill>
            <a:srgbClr val="F8F4ED"/>
          </a:solidFill>
        </a:fill>
      </a:tcStyle>
    </a:band2H>
    <a:firstCol>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1"/>
          </a:solidFill>
        </a:fill>
      </a:tcStyle>
    </a:firstCol>
    <a:la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381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1"/>
          </a:solidFill>
        </a:fill>
      </a:tcStyle>
    </a:lastRow>
    <a:fir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381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1"/>
          </a:solidFill>
        </a:fill>
      </a:tcStyle>
    </a:firstRow>
  </a:tblStyle>
  <a:tblStyle styleId="{C7B018BB-80A7-4F77-B60F-C8B233D01FF8}" styleName="">
    <a:tblBg/>
    <a:wholeTbl>
      <a:tcTxStyle b="off" i="off">
        <a:fontRef idx="minor">
          <a:srgbClr val="363434"/>
        </a:fontRef>
        <a:srgbClr val="36343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D4DFDC"/>
          </a:solidFill>
        </a:fill>
      </a:tcStyle>
    </a:wholeTbl>
    <a:band2H>
      <a:tcTxStyle b="def" i="def"/>
      <a:tcStyle>
        <a:tcBdr/>
        <a:fill>
          <a:solidFill>
            <a:srgbClr val="EAF0EE"/>
          </a:solidFill>
        </a:fill>
      </a:tcStyle>
    </a:band2H>
    <a:firstCol>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3"/>
          </a:solidFill>
        </a:fill>
      </a:tcStyle>
    </a:firstCol>
    <a:la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381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3"/>
          </a:solidFill>
        </a:fill>
      </a:tcStyle>
    </a:lastRow>
    <a:fir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381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3"/>
          </a:solidFill>
        </a:fill>
      </a:tcStyle>
    </a:firstRow>
  </a:tblStyle>
  <a:tblStyle styleId="{EEE7283C-3CF3-47DC-8721-378D4A62B228}" styleName="">
    <a:tblBg/>
    <a:wholeTbl>
      <a:tcTxStyle b="off" i="off">
        <a:fontRef idx="minor">
          <a:srgbClr val="363434"/>
        </a:fontRef>
        <a:srgbClr val="36343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E2DBD0"/>
          </a:solidFill>
        </a:fill>
      </a:tcStyle>
    </a:wholeTbl>
    <a:band2H>
      <a:tcTxStyle b="def" i="def"/>
      <a:tcStyle>
        <a:tcBdr/>
        <a:fill>
          <a:solidFill>
            <a:srgbClr val="F1EEE9"/>
          </a:solidFill>
        </a:fill>
      </a:tcStyle>
    </a:band2H>
    <a:firstCol>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6"/>
          </a:solidFill>
        </a:fill>
      </a:tcStyle>
    </a:firstCol>
    <a:la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381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6"/>
          </a:solidFill>
        </a:fill>
      </a:tcStyle>
    </a:lastRow>
    <a:fir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381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chemeClr val="accent6"/>
          </a:solidFill>
        </a:fill>
      </a:tcStyle>
    </a:firstRow>
  </a:tblStyle>
  <a:tblStyle styleId="{CF821DB8-F4EB-4A41-A1BA-3FCAFE7338EE}" styleName="">
    <a:tblBg/>
    <a:wholeTbl>
      <a:tcTxStyle b="off" i="off">
        <a:fontRef idx="minor">
          <a:srgbClr val="363434"/>
        </a:fontRef>
        <a:srgbClr val="363434"/>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b="def" i="def"/>
      <a:tcStyle>
        <a:tcBdr/>
        <a:fill>
          <a:solidFill>
            <a:srgbClr val="501214"/>
          </a:solidFill>
        </a:fill>
      </a:tcStyle>
    </a:band2H>
    <a:firstCol>
      <a:tcTxStyle b="on" i="off">
        <a:fontRef idx="minor">
          <a:srgbClr val="501214"/>
        </a:fontRef>
        <a:srgbClr val="501214"/>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363434"/>
        </a:fontRef>
        <a:srgbClr val="363434"/>
      </a:tcTxStyle>
      <a:tcStyle>
        <a:tcBdr>
          <a:left>
            <a:ln w="12700" cap="flat">
              <a:noFill/>
              <a:miter lim="400000"/>
            </a:ln>
          </a:left>
          <a:right>
            <a:ln w="12700" cap="flat">
              <a:noFill/>
              <a:miter lim="400000"/>
            </a:ln>
          </a:right>
          <a:top>
            <a:ln w="50800" cap="flat">
              <a:solidFill>
                <a:srgbClr val="363434"/>
              </a:solidFill>
              <a:prstDash val="solid"/>
              <a:round/>
            </a:ln>
          </a:top>
          <a:bottom>
            <a:ln w="25400" cap="flat">
              <a:solidFill>
                <a:srgbClr val="363434"/>
              </a:solidFill>
              <a:prstDash val="solid"/>
              <a:round/>
            </a:ln>
          </a:bottom>
          <a:insideH>
            <a:ln w="12700" cap="flat">
              <a:noFill/>
              <a:miter lim="400000"/>
            </a:ln>
          </a:insideH>
          <a:insideV>
            <a:ln w="12700" cap="flat">
              <a:noFill/>
              <a:miter lim="400000"/>
            </a:ln>
          </a:insideV>
        </a:tcBdr>
        <a:fill>
          <a:solidFill>
            <a:srgbClr val="501214"/>
          </a:solidFill>
        </a:fill>
      </a:tcStyle>
    </a:lastRow>
    <a:firstRow>
      <a:tcTxStyle b="on" i="off">
        <a:fontRef idx="minor">
          <a:srgbClr val="501214"/>
        </a:fontRef>
        <a:srgbClr val="501214"/>
      </a:tcTxStyle>
      <a:tcStyle>
        <a:tcBdr>
          <a:left>
            <a:ln w="12700" cap="flat">
              <a:noFill/>
              <a:miter lim="400000"/>
            </a:ln>
          </a:left>
          <a:right>
            <a:ln w="12700" cap="flat">
              <a:noFill/>
              <a:miter lim="400000"/>
            </a:ln>
          </a:right>
          <a:top>
            <a:ln w="25400" cap="flat">
              <a:solidFill>
                <a:srgbClr val="363434"/>
              </a:solidFill>
              <a:prstDash val="solid"/>
              <a:round/>
            </a:ln>
          </a:top>
          <a:bottom>
            <a:ln w="25400" cap="flat">
              <a:solidFill>
                <a:srgbClr val="363434"/>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363434"/>
        </a:fontRef>
        <a:srgbClr val="36343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CCCCCC"/>
          </a:solidFill>
        </a:fill>
      </a:tcStyle>
    </a:wholeTbl>
    <a:band2H>
      <a:tcTxStyle b="def" i="def"/>
      <a:tcStyle>
        <a:tcBdr/>
        <a:fill>
          <a:solidFill>
            <a:srgbClr val="E7E7E7"/>
          </a:solidFill>
        </a:fill>
      </a:tcStyle>
    </a:band2H>
    <a:firstCol>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363434"/>
          </a:solidFill>
        </a:fill>
      </a:tcStyle>
    </a:firstCol>
    <a:la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38100" cap="flat">
              <a:solidFill>
                <a:srgbClr val="501214"/>
              </a:solidFill>
              <a:prstDash val="solid"/>
              <a:round/>
            </a:ln>
          </a:top>
          <a:bottom>
            <a:ln w="127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363434"/>
          </a:solidFill>
        </a:fill>
      </a:tcStyle>
    </a:lastRow>
    <a:firstRow>
      <a:tcTxStyle b="on" i="off">
        <a:fontRef idx="minor">
          <a:srgbClr val="501214"/>
        </a:fontRef>
        <a:srgbClr val="501214"/>
      </a:tcTxStyle>
      <a:tcStyle>
        <a:tcBdr>
          <a:left>
            <a:ln w="12700" cap="flat">
              <a:solidFill>
                <a:srgbClr val="501214"/>
              </a:solidFill>
              <a:prstDash val="solid"/>
              <a:round/>
            </a:ln>
          </a:left>
          <a:right>
            <a:ln w="12700" cap="flat">
              <a:solidFill>
                <a:srgbClr val="501214"/>
              </a:solidFill>
              <a:prstDash val="solid"/>
              <a:round/>
            </a:ln>
          </a:right>
          <a:top>
            <a:ln w="12700" cap="flat">
              <a:solidFill>
                <a:srgbClr val="501214"/>
              </a:solidFill>
              <a:prstDash val="solid"/>
              <a:round/>
            </a:ln>
          </a:top>
          <a:bottom>
            <a:ln w="38100" cap="flat">
              <a:solidFill>
                <a:srgbClr val="501214"/>
              </a:solidFill>
              <a:prstDash val="solid"/>
              <a:round/>
            </a:ln>
          </a:bottom>
          <a:insideH>
            <a:ln w="12700" cap="flat">
              <a:solidFill>
                <a:srgbClr val="501214"/>
              </a:solidFill>
              <a:prstDash val="solid"/>
              <a:round/>
            </a:ln>
          </a:insideH>
          <a:insideV>
            <a:ln w="12700" cap="flat">
              <a:solidFill>
                <a:srgbClr val="501214"/>
              </a:solidFill>
              <a:prstDash val="solid"/>
              <a:round/>
            </a:ln>
          </a:insideV>
        </a:tcBdr>
        <a:fill>
          <a:solidFill>
            <a:srgbClr val="363434"/>
          </a:solidFill>
        </a:fill>
      </a:tcStyle>
    </a:firstRow>
  </a:tblStyle>
  <a:tblStyle styleId="{2708684C-4D16-4618-839F-0558EEFCDFE6}" styleName="">
    <a:tblBg/>
    <a:wholeTbl>
      <a:tcTxStyle b="off" i="off">
        <a:fontRef idx="minor">
          <a:srgbClr val="363434"/>
        </a:fontRef>
        <a:srgbClr val="363434"/>
      </a:tcTxStyle>
      <a:tcStyle>
        <a:tcBdr>
          <a:left>
            <a:ln w="12700" cap="flat">
              <a:solidFill>
                <a:srgbClr val="363434"/>
              </a:solidFill>
              <a:prstDash val="solid"/>
              <a:round/>
            </a:ln>
          </a:left>
          <a:right>
            <a:ln w="12700" cap="flat">
              <a:solidFill>
                <a:srgbClr val="363434"/>
              </a:solidFill>
              <a:prstDash val="solid"/>
              <a:round/>
            </a:ln>
          </a:right>
          <a:top>
            <a:ln w="12700" cap="flat">
              <a:solidFill>
                <a:srgbClr val="363434"/>
              </a:solidFill>
              <a:prstDash val="solid"/>
              <a:round/>
            </a:ln>
          </a:top>
          <a:bottom>
            <a:ln w="12700" cap="flat">
              <a:solidFill>
                <a:srgbClr val="363434"/>
              </a:solidFill>
              <a:prstDash val="solid"/>
              <a:round/>
            </a:ln>
          </a:bottom>
          <a:insideH>
            <a:ln w="12700" cap="flat">
              <a:solidFill>
                <a:srgbClr val="363434"/>
              </a:solidFill>
              <a:prstDash val="solid"/>
              <a:round/>
            </a:ln>
          </a:insideH>
          <a:insideV>
            <a:ln w="12700" cap="flat">
              <a:solidFill>
                <a:srgbClr val="363434"/>
              </a:solidFill>
              <a:prstDash val="solid"/>
              <a:round/>
            </a:ln>
          </a:insideV>
        </a:tcBdr>
        <a:fill>
          <a:solidFill>
            <a:srgbClr val="363434">
              <a:alpha val="20000"/>
            </a:srgbClr>
          </a:solidFill>
        </a:fill>
      </a:tcStyle>
    </a:wholeTbl>
    <a:band2H>
      <a:tcTxStyle b="def" i="def"/>
      <a:tcStyle>
        <a:tcBdr/>
        <a:fill>
          <a:solidFill>
            <a:srgbClr val="FFFFFF"/>
          </a:solidFill>
        </a:fill>
      </a:tcStyle>
    </a:band2H>
    <a:firstCol>
      <a:tcTxStyle b="on" i="off">
        <a:fontRef idx="minor">
          <a:srgbClr val="363434"/>
        </a:fontRef>
        <a:srgbClr val="363434"/>
      </a:tcTxStyle>
      <a:tcStyle>
        <a:tcBdr>
          <a:left>
            <a:ln w="12700" cap="flat">
              <a:solidFill>
                <a:srgbClr val="363434"/>
              </a:solidFill>
              <a:prstDash val="solid"/>
              <a:round/>
            </a:ln>
          </a:left>
          <a:right>
            <a:ln w="12700" cap="flat">
              <a:solidFill>
                <a:srgbClr val="363434"/>
              </a:solidFill>
              <a:prstDash val="solid"/>
              <a:round/>
            </a:ln>
          </a:right>
          <a:top>
            <a:ln w="12700" cap="flat">
              <a:solidFill>
                <a:srgbClr val="363434"/>
              </a:solidFill>
              <a:prstDash val="solid"/>
              <a:round/>
            </a:ln>
          </a:top>
          <a:bottom>
            <a:ln w="12700" cap="flat">
              <a:solidFill>
                <a:srgbClr val="363434"/>
              </a:solidFill>
              <a:prstDash val="solid"/>
              <a:round/>
            </a:ln>
          </a:bottom>
          <a:insideH>
            <a:ln w="12700" cap="flat">
              <a:solidFill>
                <a:srgbClr val="363434"/>
              </a:solidFill>
              <a:prstDash val="solid"/>
              <a:round/>
            </a:ln>
          </a:insideH>
          <a:insideV>
            <a:ln w="12700" cap="flat">
              <a:solidFill>
                <a:srgbClr val="363434"/>
              </a:solidFill>
              <a:prstDash val="solid"/>
              <a:round/>
            </a:ln>
          </a:insideV>
        </a:tcBdr>
        <a:fill>
          <a:solidFill>
            <a:srgbClr val="363434">
              <a:alpha val="20000"/>
            </a:srgbClr>
          </a:solidFill>
        </a:fill>
      </a:tcStyle>
    </a:firstCol>
    <a:lastRow>
      <a:tcTxStyle b="on" i="off">
        <a:fontRef idx="minor">
          <a:srgbClr val="363434"/>
        </a:fontRef>
        <a:srgbClr val="363434"/>
      </a:tcTxStyle>
      <a:tcStyle>
        <a:tcBdr>
          <a:left>
            <a:ln w="12700" cap="flat">
              <a:solidFill>
                <a:srgbClr val="363434"/>
              </a:solidFill>
              <a:prstDash val="solid"/>
              <a:round/>
            </a:ln>
          </a:left>
          <a:right>
            <a:ln w="12700" cap="flat">
              <a:solidFill>
                <a:srgbClr val="363434"/>
              </a:solidFill>
              <a:prstDash val="solid"/>
              <a:round/>
            </a:ln>
          </a:right>
          <a:top>
            <a:ln w="50800" cap="flat">
              <a:solidFill>
                <a:srgbClr val="363434"/>
              </a:solidFill>
              <a:prstDash val="solid"/>
              <a:round/>
            </a:ln>
          </a:top>
          <a:bottom>
            <a:ln w="12700" cap="flat">
              <a:solidFill>
                <a:srgbClr val="363434"/>
              </a:solidFill>
              <a:prstDash val="solid"/>
              <a:round/>
            </a:ln>
          </a:bottom>
          <a:insideH>
            <a:ln w="12700" cap="flat">
              <a:solidFill>
                <a:srgbClr val="363434"/>
              </a:solidFill>
              <a:prstDash val="solid"/>
              <a:round/>
            </a:ln>
          </a:insideH>
          <a:insideV>
            <a:ln w="12700" cap="flat">
              <a:solidFill>
                <a:srgbClr val="363434"/>
              </a:solidFill>
              <a:prstDash val="solid"/>
              <a:round/>
            </a:ln>
          </a:insideV>
        </a:tcBdr>
        <a:fill>
          <a:noFill/>
        </a:fill>
      </a:tcStyle>
    </a:lastRow>
    <a:firstRow>
      <a:tcTxStyle b="on" i="off">
        <a:fontRef idx="minor">
          <a:srgbClr val="363434"/>
        </a:fontRef>
        <a:srgbClr val="363434"/>
      </a:tcTxStyle>
      <a:tcStyle>
        <a:tcBdr>
          <a:left>
            <a:ln w="12700" cap="flat">
              <a:solidFill>
                <a:srgbClr val="363434"/>
              </a:solidFill>
              <a:prstDash val="solid"/>
              <a:round/>
            </a:ln>
          </a:left>
          <a:right>
            <a:ln w="12700" cap="flat">
              <a:solidFill>
                <a:srgbClr val="363434"/>
              </a:solidFill>
              <a:prstDash val="solid"/>
              <a:round/>
            </a:ln>
          </a:right>
          <a:top>
            <a:ln w="12700" cap="flat">
              <a:solidFill>
                <a:srgbClr val="363434"/>
              </a:solidFill>
              <a:prstDash val="solid"/>
              <a:round/>
            </a:ln>
          </a:top>
          <a:bottom>
            <a:ln w="25400" cap="flat">
              <a:solidFill>
                <a:srgbClr val="363434"/>
              </a:solidFill>
              <a:prstDash val="solid"/>
              <a:round/>
            </a:ln>
          </a:bottom>
          <a:insideH>
            <a:ln w="12700" cap="flat">
              <a:solidFill>
                <a:srgbClr val="363434"/>
              </a:solidFill>
              <a:prstDash val="solid"/>
              <a:round/>
            </a:ln>
          </a:insideH>
          <a:insideV>
            <a:ln w="12700" cap="flat">
              <a:solidFill>
                <a:srgbClr val="363434"/>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50" name="Shape 50"/>
          <p:cNvSpPr/>
          <p:nvPr>
            <p:ph type="sldImg"/>
          </p:nvPr>
        </p:nvSpPr>
        <p:spPr>
          <a:xfrm>
            <a:off x="1143000" y="685800"/>
            <a:ext cx="4572000" cy="3429000"/>
          </a:xfrm>
          <a:prstGeom prst="rect">
            <a:avLst/>
          </a:prstGeom>
        </p:spPr>
        <p:txBody>
          <a:bodyPr/>
          <a:lstStyle/>
          <a:p>
            <a:pPr/>
          </a:p>
        </p:txBody>
      </p:sp>
      <p:sp>
        <p:nvSpPr>
          <p:cNvPr id="51" name="Shape 51"/>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oster A">
    <p:spTree>
      <p:nvGrpSpPr>
        <p:cNvPr id="1" name=""/>
        <p:cNvGrpSpPr/>
        <p:nvPr/>
      </p:nvGrpSpPr>
      <p:grpSpPr>
        <a:xfrm>
          <a:off x="0" y="0"/>
          <a:ext cx="0" cy="0"/>
          <a:chOff x="0" y="0"/>
          <a:chExt cx="0" cy="0"/>
        </a:xfrm>
      </p:grpSpPr>
      <p:sp>
        <p:nvSpPr>
          <p:cNvPr id="14" name="Body Level One…"/>
          <p:cNvSpPr txBox="1"/>
          <p:nvPr>
            <p:ph type="body" sz="quarter" idx="1" hasCustomPrompt="1"/>
          </p:nvPr>
        </p:nvSpPr>
        <p:spPr>
          <a:prstGeom prst="rect">
            <a:avLst/>
          </a:prstGeom>
        </p:spPr>
        <p:txBody>
          <a:bodyPr/>
          <a:lstStyle/>
          <a:p>
            <a:pPr/>
            <a:r>
              <a:t>This is the suggested format for captions.</a:t>
            </a:r>
          </a:p>
          <a:p>
            <a:pPr lvl="1"/>
            <a:r>
              <a:t/>
            </a:r>
          </a:p>
          <a:p>
            <a:pPr lvl="2"/>
            <a:r>
              <a:t/>
            </a:r>
          </a:p>
          <a:p>
            <a:pPr lvl="3"/>
            <a:r>
              <a:t/>
            </a:r>
          </a:p>
          <a:p>
            <a:pPr lvl="4"/>
            <a:r>
              <a:t/>
            </a:r>
          </a:p>
        </p:txBody>
      </p:sp>
      <p:sp>
        <p:nvSpPr>
          <p:cNvPr id="15" name="Text Placeholder 34"/>
          <p:cNvSpPr/>
          <p:nvPr>
            <p:ph type="body" sz="quarter" idx="21" hasCustomPrompt="1"/>
          </p:nvPr>
        </p:nvSpPr>
        <p:spPr>
          <a:xfrm>
            <a:off x="29220659" y="21247101"/>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16" name="Text Placeholder 34"/>
          <p:cNvSpPr/>
          <p:nvPr>
            <p:ph type="body" sz="quarter" idx="22" hasCustomPrompt="1"/>
          </p:nvPr>
        </p:nvSpPr>
        <p:spPr>
          <a:xfrm>
            <a:off x="29228597" y="16800513"/>
            <a:ext cx="3254829" cy="4114803"/>
          </a:xfrm>
          <a:prstGeom prst="rect">
            <a:avLst/>
          </a:prstGeom>
        </p:spPr>
        <p:txBody>
          <a:bodyPr/>
          <a:lstStyle/>
          <a:p>
            <a:pPr/>
            <a:r>
              <a:t>This is the suggested format for captions.
Duis autem vel eum iriure dolor in hendrerit in vulputate velit esse molestie consequat.</a:t>
            </a:r>
          </a:p>
        </p:txBody>
      </p:sp>
      <p:sp>
        <p:nvSpPr>
          <p:cNvPr id="17" name="Text Placeholder 34"/>
          <p:cNvSpPr/>
          <p:nvPr>
            <p:ph type="body" sz="quarter" idx="23" hasCustomPrompt="1"/>
          </p:nvPr>
        </p:nvSpPr>
        <p:spPr>
          <a:xfrm>
            <a:off x="11415711" y="30191757"/>
            <a:ext cx="10058401" cy="1812246"/>
          </a:xfrm>
          <a:prstGeom prst="rect">
            <a:avLst/>
          </a:prstGeom>
        </p:spPr>
        <p:txBody>
          <a:bodyPr/>
          <a:lstStyle/>
          <a:p>
            <a:pPr/>
            <a:r>
              <a:t>This is the suggested format for captions.
Duis autem vel eum iriure dolor in hendrerit in vulputate velit esse molestie consequat.</a:t>
            </a:r>
          </a:p>
        </p:txBody>
      </p:sp>
      <p:sp>
        <p:nvSpPr>
          <p:cNvPr id="18" name="Text Placeholder 34"/>
          <p:cNvSpPr/>
          <p:nvPr>
            <p:ph type="body" sz="quarter" idx="24" hasCustomPrompt="1"/>
          </p:nvPr>
        </p:nvSpPr>
        <p:spPr>
          <a:xfrm>
            <a:off x="11415713" y="21298582"/>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19" name="Text Placeholder 34"/>
          <p:cNvSpPr/>
          <p:nvPr>
            <p:ph type="body" sz="quarter" idx="25" hasCustomPrompt="1"/>
          </p:nvPr>
        </p:nvSpPr>
        <p:spPr>
          <a:xfrm>
            <a:off x="18204316" y="16800513"/>
            <a:ext cx="3254829" cy="4114803"/>
          </a:xfrm>
          <a:prstGeom prst="rect">
            <a:avLst/>
          </a:prstGeom>
        </p:spPr>
        <p:txBody>
          <a:bodyPr/>
          <a:lstStyle/>
          <a:p>
            <a:pPr/>
            <a:r>
              <a:t>This is the suggested format for captions.
Duis autem vel eum iriure dolor in hendrerit in vulputate velit esse molestie consequat.</a:t>
            </a:r>
          </a:p>
        </p:txBody>
      </p:sp>
      <p:sp>
        <p:nvSpPr>
          <p:cNvPr id="20" name="Text Placeholder 29"/>
          <p:cNvSpPr/>
          <p:nvPr>
            <p:ph type="body" sz="quarter" idx="26" hasCustomPrompt="1"/>
          </p:nvPr>
        </p:nvSpPr>
        <p:spPr>
          <a:xfrm>
            <a:off x="914399" y="3546473"/>
            <a:ext cx="42062401" cy="649924"/>
          </a:xfrm>
          <a:prstGeom prst="rect">
            <a:avLst/>
          </a:prstGeom>
          <a:noFill/>
        </p:spPr>
        <p:txBody>
          <a:bodyPr anchor="t"/>
          <a:lstStyle>
            <a:lvl1pPr defTabSz="4037989">
              <a:spcBef>
                <a:spcPts val="4400"/>
              </a:spcBef>
              <a:defRPr i="0" sz="3600">
                <a:solidFill>
                  <a:srgbClr val="FFFFFF"/>
                </a:solidFill>
              </a:defRPr>
            </a:lvl1pPr>
          </a:lstStyle>
          <a:p>
            <a:pPr/>
            <a:r>
              <a:t>Department of {Insert Name Here}, College {Insert Name Here}, Texas State University</a:t>
            </a:r>
          </a:p>
        </p:txBody>
      </p:sp>
      <p:sp>
        <p:nvSpPr>
          <p:cNvPr id="21" name="Text Placeholder 27"/>
          <p:cNvSpPr/>
          <p:nvPr>
            <p:ph type="body" sz="quarter" idx="27" hasCustomPrompt="1"/>
          </p:nvPr>
        </p:nvSpPr>
        <p:spPr>
          <a:xfrm>
            <a:off x="914399" y="2537430"/>
            <a:ext cx="42062401" cy="928716"/>
          </a:xfrm>
          <a:prstGeom prst="rect">
            <a:avLst/>
          </a:prstGeom>
          <a:noFill/>
        </p:spPr>
        <p:txBody>
          <a:bodyPr anchor="t"/>
          <a:lstStyle>
            <a:lvl1pPr defTabSz="3994098">
              <a:spcBef>
                <a:spcPts val="4300"/>
              </a:spcBef>
              <a:defRPr i="0" sz="5400">
                <a:solidFill>
                  <a:srgbClr val="FFFFFF"/>
                </a:solidFill>
              </a:defRPr>
            </a:lvl1pPr>
          </a:lstStyle>
          <a:p>
            <a:pPr/>
            <a:r>
              <a:t>Presenter Name, Associates and Collaborators</a:t>
            </a:r>
          </a:p>
        </p:txBody>
      </p:sp>
      <p:sp>
        <p:nvSpPr>
          <p:cNvPr id="22" name="Title Text"/>
          <p:cNvSpPr txBox="1"/>
          <p:nvPr>
            <p:ph type="title"/>
          </p:nvPr>
        </p:nvSpPr>
        <p:spPr>
          <a:prstGeom prst="rect">
            <a:avLst/>
          </a:prstGeom>
        </p:spPr>
        <p:txBody>
          <a:bodyPr/>
          <a:lstStyle/>
          <a:p>
            <a:pPr/>
            <a:r>
              <a:t>Title Text</a:t>
            </a:r>
          </a:p>
        </p:txBody>
      </p:sp>
      <p:sp>
        <p:nvSpPr>
          <p:cNvPr id="2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Poster B">
    <p:spTree>
      <p:nvGrpSpPr>
        <p:cNvPr id="1" name=""/>
        <p:cNvGrpSpPr/>
        <p:nvPr/>
      </p:nvGrpSpPr>
      <p:grpSpPr>
        <a:xfrm>
          <a:off x="0" y="0"/>
          <a:ext cx="0" cy="0"/>
          <a:chOff x="0" y="0"/>
          <a:chExt cx="0" cy="0"/>
        </a:xfrm>
      </p:grpSpPr>
      <p:sp>
        <p:nvSpPr>
          <p:cNvPr id="30" name="Straight Connector 10"/>
          <p:cNvSpPr/>
          <p:nvPr/>
        </p:nvSpPr>
        <p:spPr>
          <a:xfrm>
            <a:off x="-1" y="5009320"/>
            <a:ext cx="43891201" cy="1"/>
          </a:xfrm>
          <a:prstGeom prst="line">
            <a:avLst/>
          </a:prstGeom>
          <a:ln w="63500">
            <a:solidFill>
              <a:schemeClr val="accent1"/>
            </a:solidFill>
            <a:miter/>
          </a:ln>
        </p:spPr>
        <p:txBody>
          <a:bodyPr lIns="45718" tIns="45718" rIns="45718" bIns="45718"/>
          <a:lstStyle/>
          <a:p>
            <a:pPr/>
          </a:p>
        </p:txBody>
      </p:sp>
      <p:pic>
        <p:nvPicPr>
          <p:cNvPr id="31" name="Picture 12" descr="Picture 12"/>
          <p:cNvPicPr>
            <a:picLocks noChangeAspect="1"/>
          </p:cNvPicPr>
          <p:nvPr/>
        </p:nvPicPr>
        <p:blipFill>
          <a:blip r:embed="rId2">
            <a:extLst/>
          </a:blip>
          <a:stretch>
            <a:fillRect/>
          </a:stretch>
        </p:blipFill>
        <p:spPr>
          <a:xfrm>
            <a:off x="33383329" y="28823446"/>
            <a:ext cx="9144002" cy="2053734"/>
          </a:xfrm>
          <a:prstGeom prst="rect">
            <a:avLst/>
          </a:prstGeom>
          <a:ln w="12700">
            <a:miter lim="400000"/>
          </a:ln>
        </p:spPr>
      </p:pic>
      <p:pic>
        <p:nvPicPr>
          <p:cNvPr id="32" name="Picture 14" descr="Picture 14"/>
          <p:cNvPicPr>
            <a:picLocks noChangeAspect="1"/>
          </p:cNvPicPr>
          <p:nvPr/>
        </p:nvPicPr>
        <p:blipFill>
          <a:blip r:embed="rId3">
            <a:extLst/>
          </a:blip>
          <a:stretch>
            <a:fillRect/>
          </a:stretch>
        </p:blipFill>
        <p:spPr>
          <a:xfrm>
            <a:off x="33383329" y="31367266"/>
            <a:ext cx="9593470" cy="636736"/>
          </a:xfrm>
          <a:prstGeom prst="rect">
            <a:avLst/>
          </a:prstGeom>
          <a:ln w="12700">
            <a:miter lim="400000"/>
          </a:ln>
        </p:spPr>
      </p:pic>
      <p:sp>
        <p:nvSpPr>
          <p:cNvPr id="33" name="Rectangle 40"/>
          <p:cNvSpPr/>
          <p:nvPr/>
        </p:nvSpPr>
        <p:spPr>
          <a:xfrm>
            <a:off x="0" y="0"/>
            <a:ext cx="43891200" cy="4572000"/>
          </a:xfrm>
          <a:prstGeom prst="rect">
            <a:avLst/>
          </a:prstGeom>
          <a:solidFill>
            <a:srgbClr val="FFFFFF"/>
          </a:solidFill>
          <a:ln w="12700">
            <a:miter lim="400000"/>
          </a:ln>
        </p:spPr>
        <p:txBody>
          <a:bodyPr lIns="45718" tIns="45718" rIns="45718" bIns="45718" anchor="ctr"/>
          <a:lstStyle/>
          <a:p>
            <a:pPr algn="ctr">
              <a:defRPr>
                <a:solidFill>
                  <a:srgbClr val="FFFFFF"/>
                </a:solidFill>
                <a:latin typeface="Aptos"/>
                <a:ea typeface="Aptos"/>
                <a:cs typeface="Aptos"/>
                <a:sym typeface="Aptos"/>
              </a:defRPr>
            </a:pPr>
          </a:p>
        </p:txBody>
      </p:sp>
      <p:pic>
        <p:nvPicPr>
          <p:cNvPr id="34" name="Picture 41" descr="Picture 41"/>
          <p:cNvPicPr>
            <a:picLocks noChangeAspect="1"/>
          </p:cNvPicPr>
          <p:nvPr/>
        </p:nvPicPr>
        <p:blipFill>
          <a:blip r:embed="rId4">
            <a:extLst/>
          </a:blip>
          <a:stretch>
            <a:fillRect/>
          </a:stretch>
        </p:blipFill>
        <p:spPr>
          <a:xfrm>
            <a:off x="-457202" y="4968754"/>
            <a:ext cx="44805601" cy="365762"/>
          </a:xfrm>
          <a:prstGeom prst="rect">
            <a:avLst/>
          </a:prstGeom>
          <a:ln w="12700">
            <a:miter lim="400000"/>
          </a:ln>
        </p:spPr>
      </p:pic>
      <p:sp>
        <p:nvSpPr>
          <p:cNvPr id="35" name="Body Level One…"/>
          <p:cNvSpPr txBox="1"/>
          <p:nvPr>
            <p:ph type="body" sz="quarter" idx="1" hasCustomPrompt="1"/>
          </p:nvPr>
        </p:nvSpPr>
        <p:spPr>
          <a:prstGeom prst="rect">
            <a:avLst/>
          </a:prstGeom>
        </p:spPr>
        <p:txBody>
          <a:bodyPr/>
          <a:lstStyle/>
          <a:p>
            <a:pPr/>
            <a:r>
              <a:t>This is the suggested format for captions.</a:t>
            </a:r>
          </a:p>
          <a:p>
            <a:pPr lvl="1"/>
            <a:r>
              <a:t/>
            </a:r>
          </a:p>
          <a:p>
            <a:pPr lvl="2"/>
            <a:r>
              <a:t/>
            </a:r>
          </a:p>
          <a:p>
            <a:pPr lvl="3"/>
            <a:r>
              <a:t/>
            </a:r>
          </a:p>
          <a:p>
            <a:pPr lvl="4"/>
            <a:r>
              <a:t/>
            </a:r>
          </a:p>
        </p:txBody>
      </p:sp>
      <p:sp>
        <p:nvSpPr>
          <p:cNvPr id="36" name="Text Placeholder 34"/>
          <p:cNvSpPr/>
          <p:nvPr>
            <p:ph type="body" sz="quarter" idx="21" hasCustomPrompt="1"/>
          </p:nvPr>
        </p:nvSpPr>
        <p:spPr>
          <a:xfrm>
            <a:off x="29220659" y="21247101"/>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37" name="Text Placeholder 34"/>
          <p:cNvSpPr/>
          <p:nvPr>
            <p:ph type="body" sz="quarter" idx="22" hasCustomPrompt="1"/>
          </p:nvPr>
        </p:nvSpPr>
        <p:spPr>
          <a:xfrm>
            <a:off x="29228597" y="16800514"/>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38" name="Text Placeholder 34"/>
          <p:cNvSpPr/>
          <p:nvPr>
            <p:ph type="body" sz="quarter" idx="23" hasCustomPrompt="1"/>
          </p:nvPr>
        </p:nvSpPr>
        <p:spPr>
          <a:xfrm>
            <a:off x="11415710" y="30191757"/>
            <a:ext cx="10058402" cy="1812246"/>
          </a:xfrm>
          <a:prstGeom prst="rect">
            <a:avLst/>
          </a:prstGeom>
        </p:spPr>
        <p:txBody>
          <a:bodyPr/>
          <a:lstStyle/>
          <a:p>
            <a:pPr/>
            <a:r>
              <a:t>This is the suggested format for captions.
Duis autem vel eum iriure dolor in hendrerit in vulputate velit esse molestie consequat.</a:t>
            </a:r>
          </a:p>
        </p:txBody>
      </p:sp>
      <p:sp>
        <p:nvSpPr>
          <p:cNvPr id="39" name="Text Placeholder 34"/>
          <p:cNvSpPr/>
          <p:nvPr>
            <p:ph type="body" sz="quarter" idx="24" hasCustomPrompt="1"/>
          </p:nvPr>
        </p:nvSpPr>
        <p:spPr>
          <a:xfrm>
            <a:off x="11415713" y="21298582"/>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40" name="Text Placeholder 34"/>
          <p:cNvSpPr/>
          <p:nvPr>
            <p:ph type="body" sz="quarter" idx="25" hasCustomPrompt="1"/>
          </p:nvPr>
        </p:nvSpPr>
        <p:spPr>
          <a:xfrm>
            <a:off x="18204316" y="16800514"/>
            <a:ext cx="3254829" cy="4114802"/>
          </a:xfrm>
          <a:prstGeom prst="rect">
            <a:avLst/>
          </a:prstGeom>
        </p:spPr>
        <p:txBody>
          <a:bodyPr/>
          <a:lstStyle/>
          <a:p>
            <a:pPr/>
            <a:r>
              <a:t>This is the suggested format for captions.
Duis autem vel eum iriure dolor in hendrerit in vulputate velit esse molestie consequat.</a:t>
            </a:r>
          </a:p>
        </p:txBody>
      </p:sp>
      <p:sp>
        <p:nvSpPr>
          <p:cNvPr id="41" name="Text Placeholder 29"/>
          <p:cNvSpPr/>
          <p:nvPr>
            <p:ph type="body" sz="quarter" idx="26" hasCustomPrompt="1"/>
          </p:nvPr>
        </p:nvSpPr>
        <p:spPr>
          <a:xfrm>
            <a:off x="914399" y="3546473"/>
            <a:ext cx="42062401" cy="649924"/>
          </a:xfrm>
          <a:prstGeom prst="rect">
            <a:avLst/>
          </a:prstGeom>
          <a:noFill/>
        </p:spPr>
        <p:txBody>
          <a:bodyPr anchor="t"/>
          <a:lstStyle>
            <a:lvl1pPr defTabSz="4037989">
              <a:spcBef>
                <a:spcPts val="4400"/>
              </a:spcBef>
              <a:defRPr i="0" sz="3600"/>
            </a:lvl1pPr>
          </a:lstStyle>
          <a:p>
            <a:pPr/>
            <a:r>
              <a:t>Department of {Insert Name Here}, College {Insert Name Here}, Texas State University</a:t>
            </a:r>
          </a:p>
        </p:txBody>
      </p:sp>
      <p:sp>
        <p:nvSpPr>
          <p:cNvPr id="42" name="Text Placeholder 27"/>
          <p:cNvSpPr/>
          <p:nvPr>
            <p:ph type="body" sz="quarter" idx="27" hasCustomPrompt="1"/>
          </p:nvPr>
        </p:nvSpPr>
        <p:spPr>
          <a:xfrm>
            <a:off x="914399" y="2537430"/>
            <a:ext cx="42062401" cy="928716"/>
          </a:xfrm>
          <a:prstGeom prst="rect">
            <a:avLst/>
          </a:prstGeom>
          <a:noFill/>
        </p:spPr>
        <p:txBody>
          <a:bodyPr anchor="t"/>
          <a:lstStyle>
            <a:lvl1pPr defTabSz="3994098">
              <a:spcBef>
                <a:spcPts val="4300"/>
              </a:spcBef>
              <a:defRPr i="0" sz="5400"/>
            </a:lvl1pPr>
          </a:lstStyle>
          <a:p>
            <a:pPr/>
            <a:r>
              <a:t>Presenter Name, Associates and Collaborators</a:t>
            </a:r>
          </a:p>
        </p:txBody>
      </p:sp>
      <p:sp>
        <p:nvSpPr>
          <p:cNvPr id="43" name="Title Text"/>
          <p:cNvSpPr txBox="1"/>
          <p:nvPr>
            <p:ph type="title"/>
          </p:nvPr>
        </p:nvSpPr>
        <p:spPr>
          <a:prstGeom prst="rect">
            <a:avLst/>
          </a:prstGeom>
        </p:spPr>
        <p:txBody>
          <a:bodyPr/>
          <a:lstStyle>
            <a:lvl1pPr>
              <a:defRPr>
                <a:solidFill>
                  <a:schemeClr val="accent2"/>
                </a:solidFill>
              </a:defRPr>
            </a:lvl1pPr>
          </a:lstStyle>
          <a:p>
            <a:pPr/>
            <a:r>
              <a:t>Title Text</a:t>
            </a:r>
          </a:p>
        </p:txBody>
      </p:sp>
      <p:sp>
        <p:nvSpPr>
          <p:cNvPr id="44" name="Slide Number"/>
          <p:cNvSpPr txBox="1"/>
          <p:nvPr>
            <p:ph type="sldNum" sz="quarter" idx="2"/>
          </p:nvPr>
        </p:nvSpPr>
        <p:spPr>
          <a:xfrm>
            <a:off x="31181707" y="30375859"/>
            <a:ext cx="273654" cy="269239"/>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501214"/>
        </a:solidFill>
      </p:bgPr>
    </p:bg>
    <p:spTree>
      <p:nvGrpSpPr>
        <p:cNvPr id="1" name=""/>
        <p:cNvGrpSpPr/>
        <p:nvPr/>
      </p:nvGrpSpPr>
      <p:grpSpPr>
        <a:xfrm>
          <a:off x="0" y="0"/>
          <a:ext cx="0" cy="0"/>
          <a:chOff x="0" y="0"/>
          <a:chExt cx="0" cy="0"/>
        </a:xfrm>
      </p:grpSpPr>
      <p:sp>
        <p:nvSpPr>
          <p:cNvPr id="2" name="Straight Connector 10"/>
          <p:cNvSpPr/>
          <p:nvPr/>
        </p:nvSpPr>
        <p:spPr>
          <a:xfrm>
            <a:off x="-1" y="5009319"/>
            <a:ext cx="43891202" cy="2"/>
          </a:xfrm>
          <a:prstGeom prst="line">
            <a:avLst/>
          </a:prstGeom>
          <a:ln w="63500">
            <a:solidFill>
              <a:schemeClr val="accent1"/>
            </a:solidFill>
            <a:miter/>
          </a:ln>
        </p:spPr>
        <p:txBody>
          <a:bodyPr lIns="45718" tIns="45718" rIns="45718" bIns="45718"/>
          <a:lstStyle/>
          <a:p>
            <a:pPr/>
          </a:p>
        </p:txBody>
      </p:sp>
      <p:pic>
        <p:nvPicPr>
          <p:cNvPr id="3" name="Picture 12" descr="Picture 12"/>
          <p:cNvPicPr>
            <a:picLocks noChangeAspect="1"/>
          </p:cNvPicPr>
          <p:nvPr/>
        </p:nvPicPr>
        <p:blipFill>
          <a:blip r:embed="rId2">
            <a:extLst/>
          </a:blip>
          <a:stretch>
            <a:fillRect/>
          </a:stretch>
        </p:blipFill>
        <p:spPr>
          <a:xfrm>
            <a:off x="33383329" y="28823446"/>
            <a:ext cx="9144002" cy="2053734"/>
          </a:xfrm>
          <a:prstGeom prst="rect">
            <a:avLst/>
          </a:prstGeom>
          <a:ln w="12700">
            <a:miter lim="400000"/>
          </a:ln>
        </p:spPr>
      </p:pic>
      <p:pic>
        <p:nvPicPr>
          <p:cNvPr id="4" name="Picture 14" descr="Picture 14"/>
          <p:cNvPicPr>
            <a:picLocks noChangeAspect="1"/>
          </p:cNvPicPr>
          <p:nvPr/>
        </p:nvPicPr>
        <p:blipFill>
          <a:blip r:embed="rId3">
            <a:extLst/>
          </a:blip>
          <a:stretch>
            <a:fillRect/>
          </a:stretch>
        </p:blipFill>
        <p:spPr>
          <a:xfrm>
            <a:off x="33383329" y="31367266"/>
            <a:ext cx="9593470" cy="636736"/>
          </a:xfrm>
          <a:prstGeom prst="rect">
            <a:avLst/>
          </a:prstGeom>
          <a:ln w="12700">
            <a:miter lim="400000"/>
          </a:ln>
        </p:spPr>
      </p:pic>
      <p:sp>
        <p:nvSpPr>
          <p:cNvPr id="5" name="Body Level One…"/>
          <p:cNvSpPr txBox="1"/>
          <p:nvPr>
            <p:ph type="body" idx="1" hasCustomPrompt="1"/>
          </p:nvPr>
        </p:nvSpPr>
        <p:spPr>
          <a:xfrm>
            <a:off x="22417089" y="30175200"/>
            <a:ext cx="10058401" cy="1812246"/>
          </a:xfrm>
          <a:prstGeom prst="rect">
            <a:avLst/>
          </a:prstGeom>
          <a:solidFill>
            <a:srgbClr val="FFFFFF"/>
          </a:solidFill>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This is the suggested format for captions.</a:t>
            </a:r>
          </a:p>
          <a:p>
            <a:pPr lvl="1"/>
            <a:r>
              <a:t/>
            </a:r>
          </a:p>
          <a:p>
            <a:pPr lvl="2"/>
            <a:r>
              <a:t/>
            </a:r>
          </a:p>
          <a:p>
            <a:pPr lvl="3"/>
            <a:r>
              <a:t/>
            </a:r>
          </a:p>
          <a:p>
            <a:pPr lvl="4"/>
            <a:r>
              <a:t/>
            </a:r>
          </a:p>
        </p:txBody>
      </p:sp>
      <p:sp>
        <p:nvSpPr>
          <p:cNvPr id="6" name="Title Text"/>
          <p:cNvSpPr txBox="1"/>
          <p:nvPr>
            <p:ph type="title"/>
          </p:nvPr>
        </p:nvSpPr>
        <p:spPr>
          <a:xfrm>
            <a:off x="914400" y="914400"/>
            <a:ext cx="42062400" cy="17417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7" name="Slide Number"/>
          <p:cNvSpPr txBox="1"/>
          <p:nvPr>
            <p:ph type="sldNum" sz="quarter" idx="2"/>
          </p:nvPr>
        </p:nvSpPr>
        <p:spPr>
          <a:xfrm>
            <a:off x="31181708" y="30375860"/>
            <a:ext cx="273654" cy="269239"/>
          </a:xfrm>
          <a:prstGeom prst="rect">
            <a:avLst/>
          </a:prstGeom>
          <a:ln w="12700">
            <a:miter lim="400000"/>
          </a:ln>
        </p:spPr>
        <p:txBody>
          <a:bodyPr wrap="none" lIns="45718" tIns="45718" rIns="45718" bIns="45718" anchor="ctr">
            <a:spAutoFit/>
          </a:bodyPr>
          <a:lstStyle>
            <a:lvl1pPr algn="r">
              <a:defRPr sz="1200">
                <a:latin typeface="Aptos"/>
                <a:ea typeface="Aptos"/>
                <a:cs typeface="Aptos"/>
                <a:sym typeface="Aptos"/>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4"/>
    <p:sldLayoutId id="2147483650" r:id="rId5"/>
  </p:sldLayoutIdLst>
  <p:transition xmlns:p14="http://schemas.microsoft.com/office/powerpoint/2010/main" spd="med" advClick="1"/>
  <p:txStyles>
    <p:titleStyle>
      <a:lvl1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1pPr>
      <a:lvl2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2pPr>
      <a:lvl3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3pPr>
      <a:lvl4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4pPr>
      <a:lvl5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5pPr>
      <a:lvl6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6pPr>
      <a:lvl7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7pPr>
      <a:lvl8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8pPr>
      <a:lvl9pPr marL="0" marR="0" indent="0" algn="l" defTabSz="4389120" rtl="0" latinLnBrk="0">
        <a:lnSpc>
          <a:spcPct val="90000"/>
        </a:lnSpc>
        <a:spcBef>
          <a:spcPts val="0"/>
        </a:spcBef>
        <a:spcAft>
          <a:spcPts val="0"/>
        </a:spcAft>
        <a:buClrTx/>
        <a:buSzTx/>
        <a:buFontTx/>
        <a:buNone/>
        <a:tabLst/>
        <a:defRPr b="0" baseline="0" cap="none" i="0" spc="0" strike="noStrike" sz="10400" u="none">
          <a:solidFill>
            <a:schemeClr val="accent1"/>
          </a:solidFill>
          <a:uFillTx/>
          <a:latin typeface="Aptos Display"/>
          <a:ea typeface="Aptos Display"/>
          <a:cs typeface="Aptos Display"/>
          <a:sym typeface="Aptos Display"/>
        </a:defRPr>
      </a:lvl9pPr>
    </p:titleStyle>
    <p:bodyStyle>
      <a:lvl1pPr marL="0" marR="0" indent="0" algn="l" defTabSz="4389120" rtl="0" latinLnBrk="0">
        <a:lnSpc>
          <a:spcPct val="90000"/>
        </a:lnSpc>
        <a:spcBef>
          <a:spcPts val="1800"/>
        </a:spcBef>
        <a:spcAft>
          <a:spcPts val="0"/>
        </a:spcAft>
        <a:buClrTx/>
        <a:buSzTx/>
        <a:buFontTx/>
        <a:buNone/>
        <a:tabLst/>
        <a:defRPr b="0" baseline="0" cap="none" i="1" spc="0" strike="noStrike" sz="2100" u="none">
          <a:solidFill>
            <a:srgbClr val="363434"/>
          </a:solidFill>
          <a:uFillTx/>
          <a:latin typeface="Aptos"/>
          <a:ea typeface="Aptos"/>
          <a:cs typeface="Aptos"/>
          <a:sym typeface="Aptos"/>
        </a:defRPr>
      </a:lvl1pPr>
      <a:lvl2pPr marL="2394933" marR="0" indent="-200372"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2pPr>
      <a:lvl3pPr marL="4629150" marR="0" indent="-240029"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3pPr>
      <a:lvl4pPr marL="6851618"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4pPr>
      <a:lvl5pPr marL="9046178"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5pPr>
      <a:lvl6pPr marL="11240740"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6pPr>
      <a:lvl7pPr marL="13435299"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7pPr>
      <a:lvl8pPr marL="15629858"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8pPr>
      <a:lvl9pPr marL="17824420" marR="0" indent="-267940" algn="l" defTabSz="4389120" rtl="0" latinLnBrk="0">
        <a:lnSpc>
          <a:spcPct val="90000"/>
        </a:lnSpc>
        <a:spcBef>
          <a:spcPts val="1800"/>
        </a:spcBef>
        <a:spcAft>
          <a:spcPts val="0"/>
        </a:spcAft>
        <a:buClrTx/>
        <a:buSzPct val="100000"/>
        <a:buFontTx/>
        <a:buChar char="•"/>
        <a:tabLst/>
        <a:defRPr b="0" baseline="0" cap="none" i="1" spc="0" strike="noStrike" sz="2100" u="none">
          <a:solidFill>
            <a:srgbClr val="363434"/>
          </a:solidFill>
          <a:uFillTx/>
          <a:latin typeface="Aptos"/>
          <a:ea typeface="Aptos"/>
          <a:cs typeface="Aptos"/>
          <a:sym typeface="Aptos"/>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Apto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Text Placeholder 65"/>
          <p:cNvSpPr txBox="1"/>
          <p:nvPr>
            <p:ph type="body" sz="quarter" idx="1"/>
          </p:nvPr>
        </p:nvSpPr>
        <p:spPr>
          <a:prstGeom prst="rect">
            <a:avLst/>
          </a:prstGeom>
        </p:spPr>
        <p:txBody>
          <a:bodyPr/>
          <a:lstStyle/>
          <a:p>
            <a:pPr/>
          </a:p>
        </p:txBody>
      </p:sp>
      <p:sp>
        <p:nvSpPr>
          <p:cNvPr id="54" name="Text Placeholder 64"/>
          <p:cNvSpPr/>
          <p:nvPr>
            <p:ph type="body" idx="21"/>
          </p:nvPr>
        </p:nvSpPr>
        <p:spPr>
          <a:xfrm>
            <a:off x="29220659" y="21247101"/>
            <a:ext cx="3254829" cy="4114802"/>
          </a:xfrm>
          <a:prstGeom prst="rect">
            <a:avLst/>
          </a:prstGeom>
        </p:spPr>
        <p:txBody>
          <a:bodyPr/>
          <a:lstStyle/>
          <a:p>
            <a:pPr/>
          </a:p>
        </p:txBody>
      </p:sp>
      <p:sp>
        <p:nvSpPr>
          <p:cNvPr id="55" name="Text Placeholder 63"/>
          <p:cNvSpPr/>
          <p:nvPr>
            <p:ph type="body" idx="22"/>
          </p:nvPr>
        </p:nvSpPr>
        <p:spPr>
          <a:xfrm>
            <a:off x="29228597" y="16800514"/>
            <a:ext cx="3254829" cy="4114802"/>
          </a:xfrm>
          <a:prstGeom prst="rect">
            <a:avLst/>
          </a:prstGeom>
        </p:spPr>
        <p:txBody>
          <a:bodyPr/>
          <a:lstStyle/>
          <a:p>
            <a:pPr/>
          </a:p>
        </p:txBody>
      </p:sp>
      <p:sp>
        <p:nvSpPr>
          <p:cNvPr id="56" name="Text Placeholder 62"/>
          <p:cNvSpPr/>
          <p:nvPr>
            <p:ph type="body" idx="23"/>
          </p:nvPr>
        </p:nvSpPr>
        <p:spPr>
          <a:xfrm>
            <a:off x="11415710" y="30191757"/>
            <a:ext cx="10058402" cy="1812246"/>
          </a:xfrm>
          <a:prstGeom prst="rect">
            <a:avLst/>
          </a:prstGeom>
        </p:spPr>
        <p:txBody>
          <a:bodyPr/>
          <a:lstStyle/>
          <a:p>
            <a:pPr/>
          </a:p>
        </p:txBody>
      </p:sp>
      <p:sp>
        <p:nvSpPr>
          <p:cNvPr id="57" name="Text Placeholder 61"/>
          <p:cNvSpPr/>
          <p:nvPr>
            <p:ph type="body" idx="24"/>
          </p:nvPr>
        </p:nvSpPr>
        <p:spPr>
          <a:xfrm>
            <a:off x="11415713" y="21298582"/>
            <a:ext cx="3254829" cy="4114802"/>
          </a:xfrm>
          <a:prstGeom prst="rect">
            <a:avLst/>
          </a:prstGeom>
        </p:spPr>
        <p:txBody>
          <a:bodyPr/>
          <a:lstStyle/>
          <a:p>
            <a:pPr/>
          </a:p>
        </p:txBody>
      </p:sp>
      <p:sp>
        <p:nvSpPr>
          <p:cNvPr id="58" name="Text Placeholder 60"/>
          <p:cNvSpPr/>
          <p:nvPr>
            <p:ph type="body" idx="25"/>
          </p:nvPr>
        </p:nvSpPr>
        <p:spPr>
          <a:xfrm>
            <a:off x="18204316" y="16800514"/>
            <a:ext cx="3254829" cy="4114802"/>
          </a:xfrm>
          <a:prstGeom prst="rect">
            <a:avLst/>
          </a:prstGeom>
        </p:spPr>
        <p:txBody>
          <a:bodyPr/>
          <a:lstStyle/>
          <a:p>
            <a:pPr/>
          </a:p>
        </p:txBody>
      </p:sp>
      <p:sp>
        <p:nvSpPr>
          <p:cNvPr id="59" name="Text Placeholder 59"/>
          <p:cNvSpPr/>
          <p:nvPr>
            <p:ph type="body" idx="26"/>
          </p:nvPr>
        </p:nvSpPr>
        <p:spPr>
          <a:xfrm>
            <a:off x="914399" y="3546473"/>
            <a:ext cx="42062401" cy="649924"/>
          </a:xfrm>
          <a:prstGeom prst="rect">
            <a:avLst/>
          </a:prstGeom>
          <a:extLst>
            <a:ext uri="{C572A759-6A51-4108-AA02-DFA0A04FC94B}">
              <ma14:wrappingTextBoxFlag xmlns:ma14="http://schemas.microsoft.com/office/mac/drawingml/2011/main" val="1"/>
            </a:ext>
          </a:extLst>
        </p:spPr>
        <p:txBody>
          <a:bodyPr/>
          <a:lstStyle/>
          <a:p>
            <a:pPr/>
            <a:r>
              <a:t>Department of {Insert Name Here}, College {Insert Name Here}, Texas State University</a:t>
            </a:r>
          </a:p>
        </p:txBody>
      </p:sp>
      <p:sp>
        <p:nvSpPr>
          <p:cNvPr id="60" name="Text Placeholder 58"/>
          <p:cNvSpPr/>
          <p:nvPr>
            <p:ph type="body" idx="27"/>
          </p:nvPr>
        </p:nvSpPr>
        <p:spPr>
          <a:xfrm>
            <a:off x="914399" y="2537430"/>
            <a:ext cx="42062401" cy="928716"/>
          </a:xfrm>
          <a:prstGeom prst="rect">
            <a:avLst/>
          </a:prstGeom>
          <a:extLst>
            <a:ext uri="{C572A759-6A51-4108-AA02-DFA0A04FC94B}">
              <ma14:wrappingTextBoxFlag xmlns:ma14="http://schemas.microsoft.com/office/mac/drawingml/2011/main" val="1"/>
            </a:ext>
          </a:extLst>
        </p:spPr>
        <p:txBody>
          <a:bodyPr/>
          <a:lstStyle/>
          <a:p>
            <a:pPr/>
            <a:r>
              <a:t>Presenter Name, Associates and Collaborators</a:t>
            </a:r>
          </a:p>
        </p:txBody>
      </p:sp>
      <p:sp>
        <p:nvSpPr>
          <p:cNvPr id="61" name="Title 23"/>
          <p:cNvSpPr txBox="1"/>
          <p:nvPr>
            <p:ph type="title"/>
          </p:nvPr>
        </p:nvSpPr>
        <p:spPr>
          <a:xfrm>
            <a:off x="914400" y="914400"/>
            <a:ext cx="42062400" cy="1741710"/>
          </a:xfrm>
          <a:prstGeom prst="rect">
            <a:avLst/>
          </a:prstGeom>
        </p:spPr>
        <p:txBody>
          <a:bodyPr/>
          <a:lstStyle/>
          <a:p>
            <a:pPr/>
            <a:r>
              <a:t>Exceedingly Intelligent Analysis Poster Appellation</a:t>
            </a:r>
          </a:p>
        </p:txBody>
      </p:sp>
      <p:grpSp>
        <p:nvGrpSpPr>
          <p:cNvPr id="64" name="TextBox 1"/>
          <p:cNvGrpSpPr/>
          <p:nvPr/>
        </p:nvGrpSpPr>
        <p:grpSpPr>
          <a:xfrm>
            <a:off x="1391477" y="5923720"/>
            <a:ext cx="9144001" cy="13716002"/>
            <a:chOff x="0" y="0"/>
            <a:chExt cx="9144000" cy="13716001"/>
          </a:xfrm>
        </p:grpSpPr>
        <p:sp>
          <p:nvSpPr>
            <p:cNvPr id="62" name="Rectangle"/>
            <p:cNvSpPr/>
            <p:nvPr/>
          </p:nvSpPr>
          <p:spPr>
            <a:xfrm>
              <a:off x="0" y="0"/>
              <a:ext cx="9144001" cy="13716002"/>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63" name="Header…"/>
            <p:cNvSpPr txBox="1"/>
            <p:nvPr/>
          </p:nvSpPr>
          <p:spPr>
            <a:xfrm>
              <a:off x="45718" y="0"/>
              <a:ext cx="9052563" cy="110896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defRPr sz="2800">
                  <a:latin typeface="Aptos"/>
                  <a:ea typeface="Aptos"/>
                  <a:cs typeface="Aptos"/>
                  <a:sym typeface="Aptos"/>
                </a:defRPr>
              </a:pP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a:p>
              <a:pPr>
                <a:defRPr b="1" sz="2800">
                  <a:latin typeface="Aptos"/>
                  <a:ea typeface="Aptos"/>
                  <a:cs typeface="Aptos"/>
                  <a:sym typeface="Aptos"/>
                </a:defRPr>
              </a:pP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Ossus volupicabore et iminciae nitati diaeculpa cumquo omnihil et, occulpa venient ab ilibusam volectes vellic tori sitius inciis net voluptatiis auditius dem venimus, ium eatius dolupta</a:t>
              </a:r>
            </a:p>
            <a:p>
              <a:pPr>
                <a:defRPr b="1" sz="2800">
                  <a:latin typeface="Aptos"/>
                  <a:ea typeface="Aptos"/>
                  <a:cs typeface="Aptos"/>
                  <a:sym typeface="Aptos"/>
                </a:defRPr>
              </a:pP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Ossus volupicabore et iminciae nitati diaeculpa cumquo omnihil et, occulpa venient ab ilibusam volectes vellic tori sitiusam inciis net voluptatiis auditius dem venimus, ium eatius dolupta tatumquae num eos im fugitis ipienimet estisit, que con nonsequi culluptia as dis consequatem qui aliqui doluptatum est, od quo blab ilias eum exeres delitem qui ipiti omnisquam harchic empere.</a:t>
              </a:r>
            </a:p>
          </p:txBody>
        </p:sp>
      </p:grpSp>
      <p:grpSp>
        <p:nvGrpSpPr>
          <p:cNvPr id="67" name="TextBox 2"/>
          <p:cNvGrpSpPr/>
          <p:nvPr/>
        </p:nvGrpSpPr>
        <p:grpSpPr>
          <a:xfrm>
            <a:off x="1391477" y="20116798"/>
            <a:ext cx="9144001" cy="11887202"/>
            <a:chOff x="0" y="0"/>
            <a:chExt cx="9144000" cy="11887201"/>
          </a:xfrm>
        </p:grpSpPr>
        <p:sp>
          <p:nvSpPr>
            <p:cNvPr id="65" name="Rectangle"/>
            <p:cNvSpPr/>
            <p:nvPr/>
          </p:nvSpPr>
          <p:spPr>
            <a:xfrm>
              <a:off x="0" y="0"/>
              <a:ext cx="9144001" cy="1188720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66" name="Header…"/>
            <p:cNvSpPr txBox="1"/>
            <p:nvPr/>
          </p:nvSpPr>
          <p:spPr>
            <a:xfrm>
              <a:off x="45718" y="-1"/>
              <a:ext cx="9052563" cy="100101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a:p>
              <a:pPr>
                <a:defRPr sz="2800">
                  <a:latin typeface="Aptos"/>
                  <a:ea typeface="Aptos"/>
                  <a:cs typeface="Aptos"/>
                  <a:sym typeface="Aptos"/>
                </a:defRPr>
              </a:pPr>
            </a:p>
            <a:p>
              <a:pPr>
                <a:defRPr sz="2800">
                  <a:latin typeface="Aptos"/>
                  <a:ea typeface="Aptos"/>
                  <a:cs typeface="Aptos"/>
                  <a:sym typeface="Aptos"/>
                </a:defRPr>
              </a:pPr>
              <a:r>
                <a:t>Ossus volupicabore et iminciae nitati diaeculpa cumquo omnihil et, occulpa venient ab ilibusam volectes vellic tori sitius inciis net voluptatiis auditius dem venimus, ium eatius dolupta</a:t>
              </a:r>
            </a:p>
            <a:p>
              <a:pPr>
                <a:defRPr sz="2800">
                  <a:latin typeface="Aptos"/>
                  <a:ea typeface="Aptos"/>
                  <a:cs typeface="Aptos"/>
                  <a:sym typeface="Aptos"/>
                </a:defRPr>
              </a:pPr>
            </a:p>
            <a:p>
              <a:pPr>
                <a:defRPr sz="2800">
                  <a:latin typeface="Aptos"/>
                  <a:ea typeface="Aptos"/>
                  <a:cs typeface="Aptos"/>
                  <a:sym typeface="Aptos"/>
                </a:defRPr>
              </a:pPr>
              <a:r>
                <a:t>Ossus volupicabore et iminciae nitati diaeculpa cumquo omnihil et, occulpa venient ab ilibusam volectes vellic tori sitiusam inciis net voluptatiis auditius dem venimus, ium eatius dolupta tatumquae num eos im fugitis ipienimet estisit, que con nonsequi culluptia as dis consequatem qui aliqui doluptatum est, od quo blab ilias eum exeres delitem qui ipiti omnisquam harchic empere.</a:t>
              </a:r>
            </a:p>
          </p:txBody>
        </p:sp>
      </p:grpSp>
      <p:grpSp>
        <p:nvGrpSpPr>
          <p:cNvPr id="70" name="TextBox 6"/>
          <p:cNvGrpSpPr/>
          <p:nvPr/>
        </p:nvGrpSpPr>
        <p:grpSpPr>
          <a:xfrm>
            <a:off x="11424036" y="5923719"/>
            <a:ext cx="10058401" cy="10287002"/>
            <a:chOff x="0" y="0"/>
            <a:chExt cx="10058400" cy="10287000"/>
          </a:xfrm>
        </p:grpSpPr>
        <p:sp>
          <p:nvSpPr>
            <p:cNvPr id="68" name="Rectangle"/>
            <p:cNvSpPr/>
            <p:nvPr/>
          </p:nvSpPr>
          <p:spPr>
            <a:xfrm>
              <a:off x="0" y="0"/>
              <a:ext cx="10058401" cy="1028700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69" name="Header…"/>
            <p:cNvSpPr txBox="1"/>
            <p:nvPr/>
          </p:nvSpPr>
          <p:spPr>
            <a:xfrm>
              <a:off x="45718" y="-1"/>
              <a:ext cx="9966963" cy="91465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a:p>
              <a:pPr>
                <a:defRPr sz="2800">
                  <a:latin typeface="Aptos"/>
                  <a:ea typeface="Aptos"/>
                  <a:cs typeface="Aptos"/>
                  <a:sym typeface="Aptos"/>
                </a:defRPr>
              </a:pPr>
            </a:p>
            <a:p>
              <a:pPr>
                <a:defRPr sz="2800">
                  <a:latin typeface="Aptos"/>
                  <a:ea typeface="Aptos"/>
                  <a:cs typeface="Aptos"/>
                  <a:sym typeface="Aptos"/>
                </a:defRPr>
              </a:pPr>
              <a:r>
                <a:t>This is the suggested format for bullets</a:t>
              </a:r>
            </a:p>
            <a:p>
              <a:pPr marL="457200" indent="-457200">
                <a:lnSpc>
                  <a:spcPct val="150000"/>
                </a:lnSpc>
                <a:buSzPct val="100000"/>
                <a:buFont typeface="Arial"/>
                <a:buChar char="•"/>
                <a:defRPr sz="2800">
                  <a:latin typeface="Aptos"/>
                  <a:ea typeface="Aptos"/>
                  <a:cs typeface="Aptos"/>
                  <a:sym typeface="Aptos"/>
                </a:defRPr>
              </a:pPr>
              <a:r>
                <a:t>Ossus volupicabore et iminciae nitati</a:t>
              </a:r>
            </a:p>
            <a:p>
              <a:pPr marL="457200" indent="-457200">
                <a:lnSpc>
                  <a:spcPct val="150000"/>
                </a:lnSpc>
                <a:buSzPct val="100000"/>
                <a:buFont typeface="Arial"/>
                <a:buChar char="•"/>
                <a:defRPr sz="2800">
                  <a:latin typeface="Aptos"/>
                  <a:ea typeface="Aptos"/>
                  <a:cs typeface="Aptos"/>
                  <a:sym typeface="Aptos"/>
                </a:defRPr>
              </a:pPr>
              <a:r>
                <a:t>Omnihil et, occulpa venient ab ilibusam volectes</a:t>
              </a:r>
            </a:p>
            <a:p>
              <a:pPr marL="457200" indent="-457200">
                <a:lnSpc>
                  <a:spcPct val="150000"/>
                </a:lnSpc>
                <a:buSzPct val="100000"/>
                <a:buFont typeface="Arial"/>
                <a:buChar char="•"/>
                <a:defRPr sz="2800">
                  <a:latin typeface="Aptos"/>
                  <a:ea typeface="Aptos"/>
                  <a:cs typeface="Aptos"/>
                  <a:sym typeface="Aptos"/>
                </a:defRPr>
              </a:pPr>
              <a:r>
                <a:t>Tori sitius inciis net voluptatiis auditius dem venimus </a:t>
              </a:r>
            </a:p>
            <a:p>
              <a:pPr marL="457200" indent="-457200">
                <a:lnSpc>
                  <a:spcPct val="150000"/>
                </a:lnSpc>
                <a:buSzPct val="100000"/>
                <a:buFont typeface="Arial"/>
                <a:buChar char="•"/>
                <a:defRPr sz="2800">
                  <a:latin typeface="Aptos"/>
                  <a:ea typeface="Aptos"/>
                  <a:cs typeface="Aptos"/>
                  <a:sym typeface="Aptos"/>
                </a:defRPr>
              </a:pPr>
              <a:r>
                <a:t>Ium eatius dolupta</a:t>
              </a:r>
            </a:p>
            <a:p>
              <a:pPr>
                <a:defRPr sz="2800">
                  <a:latin typeface="Aptos"/>
                  <a:ea typeface="Aptos"/>
                  <a:cs typeface="Aptos"/>
                  <a:sym typeface="Aptos"/>
                </a:defRPr>
              </a:pPr>
            </a:p>
            <a:p>
              <a:pPr>
                <a:defRPr sz="2800">
                  <a:latin typeface="Aptos"/>
                  <a:ea typeface="Aptos"/>
                  <a:cs typeface="Aptos"/>
                  <a:sym typeface="Aptos"/>
                </a:defRPr>
              </a:pPr>
              <a:r>
                <a:t>Ossus volupicabore et iminciae nitati diaeculpa cumquo omnihil et, occulpa venient ab ilibusam volectes vellic tori sitiusam inciis net voluptatiis auditius dem venimus.</a:t>
              </a:r>
            </a:p>
          </p:txBody>
        </p:sp>
      </p:grpSp>
      <p:grpSp>
        <p:nvGrpSpPr>
          <p:cNvPr id="73" name="TextBox 7"/>
          <p:cNvGrpSpPr/>
          <p:nvPr/>
        </p:nvGrpSpPr>
        <p:grpSpPr>
          <a:xfrm>
            <a:off x="22370995" y="5923719"/>
            <a:ext cx="10058402" cy="10287001"/>
            <a:chOff x="0" y="0"/>
            <a:chExt cx="10058400" cy="10287000"/>
          </a:xfrm>
        </p:grpSpPr>
        <p:sp>
          <p:nvSpPr>
            <p:cNvPr id="71" name="Rectangle"/>
            <p:cNvSpPr/>
            <p:nvPr/>
          </p:nvSpPr>
          <p:spPr>
            <a:xfrm>
              <a:off x="0" y="0"/>
              <a:ext cx="10058401" cy="1028700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72" name="Header…"/>
            <p:cNvSpPr txBox="1"/>
            <p:nvPr/>
          </p:nvSpPr>
          <p:spPr>
            <a:xfrm>
              <a:off x="45718" y="-1"/>
              <a:ext cx="9966963" cy="97942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a:p>
              <a:pPr>
                <a:defRPr sz="2800">
                  <a:latin typeface="Aptos"/>
                  <a:ea typeface="Aptos"/>
                  <a:cs typeface="Aptos"/>
                  <a:sym typeface="Aptos"/>
                </a:defRPr>
              </a:pPr>
            </a:p>
            <a:p>
              <a:pPr>
                <a:defRPr sz="2800">
                  <a:latin typeface="Aptos"/>
                  <a:ea typeface="Aptos"/>
                  <a:cs typeface="Aptos"/>
                  <a:sym typeface="Aptos"/>
                </a:defRPr>
              </a:pPr>
              <a:r>
                <a:t>Suggested format for numbered list:</a:t>
              </a:r>
            </a:p>
            <a:p>
              <a:pPr marL="514350" indent="-514350">
                <a:lnSpc>
                  <a:spcPct val="150000"/>
                </a:lnSpc>
                <a:buSzPct val="100000"/>
                <a:buAutoNum type="arabicPeriod" startAt="1"/>
                <a:defRPr sz="2800">
                  <a:latin typeface="Aptos"/>
                  <a:ea typeface="Aptos"/>
                  <a:cs typeface="Aptos"/>
                  <a:sym typeface="Aptos"/>
                </a:defRPr>
              </a:pPr>
              <a:r>
                <a:t>Ossus volupicabore et iminciae nitati</a:t>
              </a:r>
            </a:p>
            <a:p>
              <a:pPr marL="514350" indent="-514350">
                <a:lnSpc>
                  <a:spcPct val="150000"/>
                </a:lnSpc>
                <a:buSzPct val="100000"/>
                <a:buAutoNum type="arabicPeriod" startAt="1"/>
                <a:defRPr sz="2800">
                  <a:latin typeface="Aptos"/>
                  <a:ea typeface="Aptos"/>
                  <a:cs typeface="Aptos"/>
                  <a:sym typeface="Aptos"/>
                </a:defRPr>
              </a:pPr>
              <a:r>
                <a:t>Omnihil et, occulpa venient ab ilibusam volectes</a:t>
              </a:r>
            </a:p>
            <a:p>
              <a:pPr marL="514350" indent="-514350">
                <a:lnSpc>
                  <a:spcPct val="150000"/>
                </a:lnSpc>
                <a:buSzPct val="100000"/>
                <a:buAutoNum type="arabicPeriod" startAt="1"/>
                <a:defRPr sz="2800">
                  <a:latin typeface="Aptos"/>
                  <a:ea typeface="Aptos"/>
                  <a:cs typeface="Aptos"/>
                  <a:sym typeface="Aptos"/>
                </a:defRPr>
              </a:pPr>
              <a:r>
                <a:t>Tori sitius inciis net voluptatiis </a:t>
              </a:r>
            </a:p>
            <a:p>
              <a:pPr marL="514350" indent="-514350">
                <a:lnSpc>
                  <a:spcPct val="150000"/>
                </a:lnSpc>
                <a:buSzPct val="100000"/>
                <a:buAutoNum type="arabicPeriod" startAt="1"/>
                <a:defRPr sz="2800">
                  <a:latin typeface="Aptos"/>
                  <a:ea typeface="Aptos"/>
                  <a:cs typeface="Aptos"/>
                  <a:sym typeface="Aptos"/>
                </a:defRPr>
              </a:pPr>
              <a:r>
                <a:t>Auditius dem venimus </a:t>
              </a:r>
            </a:p>
            <a:p>
              <a:pPr marL="514350" indent="-514350">
                <a:lnSpc>
                  <a:spcPct val="150000"/>
                </a:lnSpc>
                <a:buSzPct val="100000"/>
                <a:buAutoNum type="arabicPeriod" startAt="1"/>
                <a:defRPr sz="2800">
                  <a:latin typeface="Aptos"/>
                  <a:ea typeface="Aptos"/>
                  <a:cs typeface="Aptos"/>
                  <a:sym typeface="Aptos"/>
                </a:defRPr>
              </a:pPr>
              <a:r>
                <a:t>Ium eatius dolupta</a:t>
              </a:r>
            </a:p>
            <a:p>
              <a:pPr>
                <a:defRPr sz="2800">
                  <a:latin typeface="Aptos"/>
                  <a:ea typeface="Aptos"/>
                  <a:cs typeface="Aptos"/>
                  <a:sym typeface="Aptos"/>
                </a:defRPr>
              </a:pPr>
            </a:p>
            <a:p>
              <a:pPr>
                <a:defRPr sz="2800">
                  <a:latin typeface="Aptos"/>
                  <a:ea typeface="Aptos"/>
                  <a:cs typeface="Aptos"/>
                  <a:sym typeface="Aptos"/>
                </a:defRPr>
              </a:pPr>
              <a:r>
                <a:t>Ossus volupicabore et iminciae nitati diaeculpa cumquo omnihil et, occulpa venient ab ilibusam volectes vellic tori sitiusam inciis net voluptatiis auditius dem venimus.</a:t>
              </a:r>
            </a:p>
          </p:txBody>
        </p:sp>
      </p:grpSp>
      <p:grpSp>
        <p:nvGrpSpPr>
          <p:cNvPr id="76" name="TextBox 8"/>
          <p:cNvGrpSpPr/>
          <p:nvPr/>
        </p:nvGrpSpPr>
        <p:grpSpPr>
          <a:xfrm>
            <a:off x="33355722" y="5923719"/>
            <a:ext cx="9144002" cy="12344401"/>
            <a:chOff x="0" y="0"/>
            <a:chExt cx="9144000" cy="12344401"/>
          </a:xfrm>
        </p:grpSpPr>
        <p:sp>
          <p:nvSpPr>
            <p:cNvPr id="74" name="Rectangle"/>
            <p:cNvSpPr/>
            <p:nvPr/>
          </p:nvSpPr>
          <p:spPr>
            <a:xfrm>
              <a:off x="0" y="0"/>
              <a:ext cx="9144001" cy="1234440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75" name="Header…"/>
            <p:cNvSpPr txBox="1"/>
            <p:nvPr/>
          </p:nvSpPr>
          <p:spPr>
            <a:xfrm>
              <a:off x="45718" y="-1"/>
              <a:ext cx="9052563" cy="106578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a:p>
              <a:pPr>
                <a:defRPr sz="2800">
                  <a:latin typeface="Aptos"/>
                  <a:ea typeface="Aptos"/>
                  <a:cs typeface="Aptos"/>
                  <a:sym typeface="Aptos"/>
                </a:defRPr>
              </a:pPr>
            </a:p>
            <a:p>
              <a:pPr>
                <a:defRPr sz="2800">
                  <a:latin typeface="Aptos"/>
                  <a:ea typeface="Aptos"/>
                  <a:cs typeface="Aptos"/>
                  <a:sym typeface="Aptos"/>
                </a:defRPr>
              </a:pPr>
              <a:r>
                <a:t>Ossus volupicabore et iminciae nitati diaeculpa cumquo omnihil et, occulpa venient ab ilibusam volectes vellic tori sitius inciis net voluptatiis auditius dem venimus, ium eatius dolupta</a:t>
              </a:r>
            </a:p>
            <a:p>
              <a:pPr>
                <a:defRPr sz="2800">
                  <a:latin typeface="Aptos"/>
                  <a:ea typeface="Aptos"/>
                  <a:cs typeface="Aptos"/>
                  <a:sym typeface="Aptos"/>
                </a:defRPr>
              </a:pPr>
            </a:p>
            <a:p>
              <a:pPr>
                <a:lnSpc>
                  <a:spcPct val="150000"/>
                </a:lnSpc>
                <a:defRPr b="1" sz="2800">
                  <a:latin typeface="Aptos"/>
                  <a:ea typeface="Aptos"/>
                  <a:cs typeface="Aptos"/>
                  <a:sym typeface="Aptos"/>
                </a:defRPr>
              </a:pPr>
              <a:r>
                <a:t>Subheader</a:t>
              </a:r>
            </a:p>
            <a:p>
              <a:pPr>
                <a:defRPr sz="2800">
                  <a:latin typeface="Aptos"/>
                  <a:ea typeface="Aptos"/>
                  <a:cs typeface="Aptos"/>
                  <a:sym typeface="Aptos"/>
                </a:defRPr>
              </a:pPr>
              <a:r>
                <a:t>Ossus volupicabore et iminciae nitati diaeculpa cumquo omnihil et, occulpa venient ab ilibusam volectes vellic tori sitiusam inciis net voluptatiis auditius dem venimus, ium eatius dolupta tatumquae num eos im fugitis ipienimet estisit, que con nonsequi culluptia as dis consequatem qui aliqui doluptatum est, od quo blab ilias eum exeres delitem qui ipiti omnisquam harchic empere.</a:t>
              </a:r>
            </a:p>
          </p:txBody>
        </p:sp>
      </p:grpSp>
      <p:grpSp>
        <p:nvGrpSpPr>
          <p:cNvPr id="79" name="TextBox 9"/>
          <p:cNvGrpSpPr/>
          <p:nvPr/>
        </p:nvGrpSpPr>
        <p:grpSpPr>
          <a:xfrm>
            <a:off x="33355722" y="18812405"/>
            <a:ext cx="9144002" cy="4114802"/>
            <a:chOff x="0" y="0"/>
            <a:chExt cx="9144000" cy="4114801"/>
          </a:xfrm>
        </p:grpSpPr>
        <p:sp>
          <p:nvSpPr>
            <p:cNvPr id="77" name="Rectangle"/>
            <p:cNvSpPr/>
            <p:nvPr/>
          </p:nvSpPr>
          <p:spPr>
            <a:xfrm>
              <a:off x="0" y="-1"/>
              <a:ext cx="9144001" cy="4114803"/>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78" name="Header…"/>
            <p:cNvSpPr txBox="1"/>
            <p:nvPr/>
          </p:nvSpPr>
          <p:spPr>
            <a:xfrm>
              <a:off x="45718" y="0"/>
              <a:ext cx="9052563" cy="37490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qui tessum faccuptatet odignisim eatur, sincia nusdantent estem haruntiatint idit rem ulpa et exped que provitatatur seque pro idi nos quid quo vent.</a:t>
              </a:r>
            </a:p>
          </p:txBody>
        </p:sp>
      </p:grpSp>
      <p:grpSp>
        <p:nvGrpSpPr>
          <p:cNvPr id="82" name="TextBox 10"/>
          <p:cNvGrpSpPr/>
          <p:nvPr/>
        </p:nvGrpSpPr>
        <p:grpSpPr>
          <a:xfrm>
            <a:off x="33355722" y="23471488"/>
            <a:ext cx="9144002" cy="4114802"/>
            <a:chOff x="0" y="0"/>
            <a:chExt cx="9144000" cy="4114801"/>
          </a:xfrm>
        </p:grpSpPr>
        <p:sp>
          <p:nvSpPr>
            <p:cNvPr id="80" name="Rectangle"/>
            <p:cNvSpPr/>
            <p:nvPr/>
          </p:nvSpPr>
          <p:spPr>
            <a:xfrm>
              <a:off x="0" y="-1"/>
              <a:ext cx="9144001" cy="4114803"/>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81" name="Header…"/>
            <p:cNvSpPr txBox="1"/>
            <p:nvPr/>
          </p:nvSpPr>
          <p:spPr>
            <a:xfrm>
              <a:off x="45718" y="-1"/>
              <a:ext cx="9052563" cy="24536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Header</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a:t>
              </a:r>
            </a:p>
          </p:txBody>
        </p:sp>
      </p:gr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4" name="Text Placeholder 53"/>
          <p:cNvSpPr txBox="1"/>
          <p:nvPr>
            <p:ph type="body" sz="quarter" idx="1"/>
          </p:nvPr>
        </p:nvSpPr>
        <p:spPr>
          <a:xfrm>
            <a:off x="747700" y="30276675"/>
            <a:ext cx="9328145" cy="2328514"/>
          </a:xfrm>
          <a:prstGeom prst="rect">
            <a:avLst/>
          </a:prstGeom>
        </p:spPr>
        <p:txBody>
          <a:bodyPr/>
          <a:lstStyle/>
          <a:p>
            <a:pPr/>
          </a:p>
        </p:txBody>
      </p:sp>
      <p:sp>
        <p:nvSpPr>
          <p:cNvPr id="85" name="Text Placeholder 34"/>
          <p:cNvSpPr/>
          <p:nvPr>
            <p:ph type="body" idx="22"/>
          </p:nvPr>
        </p:nvSpPr>
        <p:spPr>
          <a:xfrm>
            <a:off x="19146236" y="28150818"/>
            <a:ext cx="3254829" cy="4114802"/>
          </a:xfrm>
          <a:prstGeom prst="rect">
            <a:avLst/>
          </a:prstGeom>
        </p:spPr>
        <p:txBody>
          <a:bodyPr/>
          <a:lstStyle/>
          <a:p>
            <a:pPr/>
          </a:p>
        </p:txBody>
      </p:sp>
      <p:sp>
        <p:nvSpPr>
          <p:cNvPr id="86" name="Text Placeholder 33"/>
          <p:cNvSpPr/>
          <p:nvPr>
            <p:ph type="body" idx="23"/>
          </p:nvPr>
        </p:nvSpPr>
        <p:spPr>
          <a:xfrm>
            <a:off x="24134741" y="17215215"/>
            <a:ext cx="9144002" cy="1812246"/>
          </a:xfrm>
          <a:prstGeom prst="rect">
            <a:avLst/>
          </a:prstGeom>
        </p:spPr>
        <p:txBody>
          <a:bodyPr/>
          <a:lstStyle/>
          <a:p>
            <a:pPr/>
          </a:p>
        </p:txBody>
      </p:sp>
      <p:sp>
        <p:nvSpPr>
          <p:cNvPr id="87" name="Text Placeholder 32"/>
          <p:cNvSpPr/>
          <p:nvPr>
            <p:ph type="body" idx="24"/>
          </p:nvPr>
        </p:nvSpPr>
        <p:spPr>
          <a:xfrm>
            <a:off x="30030317" y="28538510"/>
            <a:ext cx="3254829" cy="4114802"/>
          </a:xfrm>
          <a:prstGeom prst="rect">
            <a:avLst/>
          </a:prstGeom>
          <a:extLst>
            <a:ext uri="{C572A759-6A51-4108-AA02-DFA0A04FC94B}">
              <ma14:wrappingTextBoxFlag xmlns:ma14="http://schemas.microsoft.com/office/mac/drawingml/2011/main" val="1"/>
            </a:ext>
          </a:extLst>
        </p:spPr>
        <p:txBody>
          <a:bodyPr/>
          <a:lstStyle/>
          <a:p>
            <a:pPr/>
            <a:r>
              <a:t>Scaling kinda wack go fix</a:t>
            </a:r>
          </a:p>
        </p:txBody>
      </p:sp>
      <p:sp>
        <p:nvSpPr>
          <p:cNvPr id="88" name="Text Placeholder 31"/>
          <p:cNvSpPr/>
          <p:nvPr>
            <p:ph type="body" idx="25"/>
          </p:nvPr>
        </p:nvSpPr>
        <p:spPr>
          <a:xfrm>
            <a:off x="10126079" y="24208312"/>
            <a:ext cx="8996711" cy="2527060"/>
          </a:xfrm>
          <a:prstGeom prst="rect">
            <a:avLst/>
          </a:prstGeom>
        </p:spPr>
        <p:txBody>
          <a:bodyPr/>
          <a:lstStyle/>
          <a:p>
            <a:pPr/>
          </a:p>
        </p:txBody>
      </p:sp>
      <p:sp>
        <p:nvSpPr>
          <p:cNvPr id="89" name="Text Placeholder 30"/>
          <p:cNvSpPr/>
          <p:nvPr>
            <p:ph type="body" idx="26"/>
          </p:nvPr>
        </p:nvSpPr>
        <p:spPr>
          <a:prstGeom prst="rect">
            <a:avLst/>
          </a:prstGeom>
          <a:extLst>
            <a:ext uri="{C572A759-6A51-4108-AA02-DFA0A04FC94B}">
              <ma14:wrappingTextBoxFlag xmlns:ma14="http://schemas.microsoft.com/office/mac/drawingml/2011/main" val="1"/>
            </a:ext>
          </a:extLst>
        </p:spPr>
        <p:txBody>
          <a:bodyPr/>
          <a:lstStyle/>
          <a:p>
            <a:pPr/>
            <a:r>
              <a:t>Department of Computer Science, College Science and Engineering, Texas State University</a:t>
            </a:r>
          </a:p>
        </p:txBody>
      </p:sp>
      <p:sp>
        <p:nvSpPr>
          <p:cNvPr id="90" name="Text Placeholder 29"/>
          <p:cNvSpPr/>
          <p:nvPr>
            <p:ph type="body" idx="27"/>
          </p:nvPr>
        </p:nvSpPr>
        <p:spPr>
          <a:prstGeom prst="rect">
            <a:avLst/>
          </a:prstGeom>
          <a:extLst>
            <a:ext uri="{C572A759-6A51-4108-AA02-DFA0A04FC94B}">
              <ma14:wrappingTextBoxFlag xmlns:ma14="http://schemas.microsoft.com/office/mac/drawingml/2011/main" val="1"/>
            </a:ext>
          </a:extLst>
        </p:spPr>
        <p:txBody>
          <a:bodyPr/>
          <a:lstStyle/>
          <a:p>
            <a:pPr/>
            <a:r>
              <a:t>Chloe Jones, Nav Sharma, Stephen Cox</a:t>
            </a:r>
          </a:p>
        </p:txBody>
      </p:sp>
      <p:sp>
        <p:nvSpPr>
          <p:cNvPr id="91" name="Title 1"/>
          <p:cNvSpPr txBox="1"/>
          <p:nvPr>
            <p:ph type="title"/>
          </p:nvPr>
        </p:nvSpPr>
        <p:spPr>
          <a:xfrm>
            <a:off x="914400" y="914400"/>
            <a:ext cx="42062400" cy="1741710"/>
          </a:xfrm>
          <a:prstGeom prst="rect">
            <a:avLst/>
          </a:prstGeom>
        </p:spPr>
        <p:txBody>
          <a:bodyPr/>
          <a:lstStyle>
            <a:lvl1pPr defTabSz="4169664">
              <a:defRPr sz="9800"/>
            </a:lvl1pPr>
          </a:lstStyle>
          <a:p>
            <a:pPr/>
            <a:r>
              <a:t>Identifying High-Performing Texas Counties for Strategic Enrollment Growth</a:t>
            </a:r>
          </a:p>
        </p:txBody>
      </p:sp>
      <p:grpSp>
        <p:nvGrpSpPr>
          <p:cNvPr id="94" name="TextBox 4"/>
          <p:cNvGrpSpPr/>
          <p:nvPr/>
        </p:nvGrpSpPr>
        <p:grpSpPr>
          <a:xfrm>
            <a:off x="839771" y="5650319"/>
            <a:ext cx="9144003" cy="10472636"/>
            <a:chOff x="0" y="0"/>
            <a:chExt cx="9144002" cy="10472635"/>
          </a:xfrm>
        </p:grpSpPr>
        <p:sp>
          <p:nvSpPr>
            <p:cNvPr id="92" name="Rectangle"/>
            <p:cNvSpPr/>
            <p:nvPr/>
          </p:nvSpPr>
          <p:spPr>
            <a:xfrm>
              <a:off x="-1" y="-1"/>
              <a:ext cx="9144003" cy="10472636"/>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93" name="Problem Statement…"/>
            <p:cNvSpPr txBox="1"/>
            <p:nvPr/>
          </p:nvSpPr>
          <p:spPr>
            <a:xfrm>
              <a:off x="45718" y="-1"/>
              <a:ext cx="9052563" cy="100101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Problem Statement</a:t>
              </a:r>
            </a:p>
            <a:p>
              <a:pPr>
                <a:defRPr sz="2800">
                  <a:latin typeface="Aptos"/>
                  <a:ea typeface="Aptos"/>
                  <a:cs typeface="Aptos"/>
                  <a:sym typeface="Aptos"/>
                </a:defRPr>
              </a:pPr>
            </a:p>
            <a:p>
              <a:pPr>
                <a:defRPr sz="2800">
                  <a:latin typeface="Aptos"/>
                  <a:ea typeface="Aptos"/>
                  <a:cs typeface="Aptos"/>
                  <a:sym typeface="Aptos"/>
                </a:defRPr>
              </a:pPr>
              <a:r>
                <a:t>As Texas State University pursues Research 1 (R1) classification and works to elevate its academic prestige, attracting high-performing students becomes increasingly critical to institutional advancement. TXST faces intensifying competition from established peer institutions such as UT Austin, Texas A&amp;M, and Texas Tech for top-tier students across Texas. This project analyzes the spatial distribution of college-ready students using county-level SAT/ACT data to identify strategic recruitment opportunities. By mapping TXST's competitive positioning and market share across Texas regions, we reveal high-opportunity counties with strong student performance but limited TXST presence, providing data-driven recommendations to support strategic enrollment growth.</a:t>
              </a:r>
              <a:endParaRPr b="1"/>
            </a:p>
            <a:p>
              <a:pPr>
                <a:lnSpc>
                  <a:spcPct val="150000"/>
                </a:lnSpc>
                <a:defRPr b="1" sz="2800">
                  <a:latin typeface="Aptos"/>
                  <a:ea typeface="Aptos"/>
                  <a:cs typeface="Aptos"/>
                  <a:sym typeface="Aptos"/>
                </a:defRPr>
              </a:pPr>
              <a:r>
                <a:t>Research Statement</a:t>
              </a:r>
            </a:p>
            <a:p>
              <a:pPr>
                <a:defRPr sz="2800">
                  <a:latin typeface="Aptos"/>
                  <a:ea typeface="Aptos"/>
                  <a:cs typeface="Aptos"/>
                  <a:sym typeface="Aptos"/>
                </a:defRPr>
              </a:pPr>
              <a:r>
                <a:t>What is the spatial distribution of college ready students across Texas, and which counties represent the highest-opportunity markets for TXST recruitment given competitive enrollment patterns?</a:t>
              </a:r>
            </a:p>
          </p:txBody>
        </p:sp>
      </p:grpSp>
      <p:grpSp>
        <p:nvGrpSpPr>
          <p:cNvPr id="98" name="TextBox 5"/>
          <p:cNvGrpSpPr/>
          <p:nvPr/>
        </p:nvGrpSpPr>
        <p:grpSpPr>
          <a:xfrm>
            <a:off x="812984" y="16493013"/>
            <a:ext cx="9144002" cy="13413603"/>
            <a:chOff x="0" y="0"/>
            <a:chExt cx="9144000" cy="13413601"/>
          </a:xfrm>
        </p:grpSpPr>
        <p:sp>
          <p:nvSpPr>
            <p:cNvPr id="95" name="Rectangle"/>
            <p:cNvSpPr/>
            <p:nvPr/>
          </p:nvSpPr>
          <p:spPr>
            <a:xfrm>
              <a:off x="0" y="-1"/>
              <a:ext cx="9144001" cy="817900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96" name="Data Sources…"/>
            <p:cNvSpPr/>
            <p:nvPr/>
          </p:nvSpPr>
          <p:spPr>
            <a:xfrm>
              <a:off x="45718" y="-1"/>
              <a:ext cx="9052563"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Data Sources </a:t>
              </a:r>
            </a:p>
            <a:p>
              <a:pPr>
                <a:lnSpc>
                  <a:spcPct val="150000"/>
                </a:lnSpc>
                <a:defRPr b="1" sz="2800">
                  <a:latin typeface="Aptos"/>
                  <a:ea typeface="Aptos"/>
                  <a:cs typeface="Aptos"/>
                  <a:sym typeface="Aptos"/>
                </a:defRPr>
              </a:pPr>
              <a:r>
                <a:t>THECB High School Graduate Enrollment Data</a:t>
              </a:r>
            </a:p>
            <a:p>
              <a:pPr>
                <a:defRPr sz="2800">
                  <a:latin typeface="Aptos"/>
                  <a:ea typeface="Aptos"/>
                  <a:cs typeface="Aptos"/>
                  <a:sym typeface="Aptos"/>
                </a:defRPr>
              </a:pPr>
              <a:r>
                <a:t>County-level enrollment data from the Texas Higher Education Coordinating Board tracking where 36,175 rows containing 951,423 Texas high school graduates enrolled across 325+ institutions and from 2019-2024. Includes enrollment counts by county, district, and institution.</a:t>
              </a:r>
            </a:p>
            <a:p>
              <a:pPr>
                <a:spcBef>
                  <a:spcPts val="1200"/>
                </a:spcBef>
                <a:defRPr sz="1200">
                  <a:solidFill>
                    <a:srgbClr val="000000"/>
                  </a:solidFill>
                  <a:latin typeface="Times Roman"/>
                  <a:ea typeface="Times Roman"/>
                  <a:cs typeface="Times Roman"/>
                  <a:sym typeface="Times Roman"/>
                </a:defRPr>
              </a:pPr>
            </a:p>
            <a:p>
              <a:pPr>
                <a:lnSpc>
                  <a:spcPct val="150000"/>
                </a:lnSpc>
                <a:defRPr b="1" sz="2800">
                  <a:latin typeface="Aptos"/>
                  <a:ea typeface="Aptos"/>
                  <a:cs typeface="Aptos"/>
                  <a:sym typeface="Aptos"/>
                </a:defRPr>
              </a:pPr>
              <a:r>
                <a:t>TEA College Readiness Data</a:t>
              </a:r>
            </a:p>
            <a:p>
              <a:pPr>
                <a:defRPr sz="2800">
                  <a:latin typeface="Aptos"/>
                  <a:ea typeface="Aptos"/>
                  <a:cs typeface="Aptos"/>
                  <a:sym typeface="Aptos"/>
                </a:defRPr>
              </a:pPr>
              <a:r>
                <a:t>District-level standardized test performance data from the Texas Education Agency tracking 6,455 district-year records across 1,166 school districts in 252 Texas counties from 2019-2024. Includes SAT/ACT participation rates, college readiness benchmark achievement, and Texas Success Initiative (TSI) standard performance percentages.</a:t>
              </a:r>
            </a:p>
          </p:txBody>
        </p:sp>
        <p:pic>
          <p:nvPicPr>
            <p:cNvPr id="97" name="Screenshot 2026-02-10 at 12.32.03 AM.png" descr="Screenshot 2026-02-10 at 12.32.03 AM.png"/>
            <p:cNvPicPr>
              <a:picLocks noChangeAspect="1"/>
            </p:cNvPicPr>
            <p:nvPr/>
          </p:nvPicPr>
          <p:blipFill>
            <a:blip r:embed="rId2">
              <a:extLst/>
            </a:blip>
            <a:stretch>
              <a:fillRect/>
            </a:stretch>
          </p:blipFill>
          <p:spPr>
            <a:xfrm>
              <a:off x="848971" y="8644768"/>
              <a:ext cx="6719112" cy="4768834"/>
            </a:xfrm>
            <a:prstGeom prst="rect">
              <a:avLst/>
            </a:prstGeom>
            <a:ln w="12700" cap="flat">
              <a:noFill/>
              <a:miter lim="400000"/>
            </a:ln>
            <a:effectLst/>
          </p:spPr>
        </p:pic>
      </p:grpSp>
      <p:grpSp>
        <p:nvGrpSpPr>
          <p:cNvPr id="101" name="TextBox 6"/>
          <p:cNvGrpSpPr/>
          <p:nvPr/>
        </p:nvGrpSpPr>
        <p:grpSpPr>
          <a:xfrm>
            <a:off x="10220602" y="5650319"/>
            <a:ext cx="12798142" cy="13787086"/>
            <a:chOff x="0" y="0"/>
            <a:chExt cx="12798141" cy="13787085"/>
          </a:xfrm>
        </p:grpSpPr>
        <p:sp>
          <p:nvSpPr>
            <p:cNvPr id="99" name="Rectangle"/>
            <p:cNvSpPr/>
            <p:nvPr/>
          </p:nvSpPr>
          <p:spPr>
            <a:xfrm>
              <a:off x="0" y="31219"/>
              <a:ext cx="12798142" cy="13089010"/>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100" name="Methods…"/>
            <p:cNvSpPr txBox="1"/>
            <p:nvPr/>
          </p:nvSpPr>
          <p:spPr>
            <a:xfrm>
              <a:off x="58172" y="0"/>
              <a:ext cx="12681797" cy="13787086"/>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noAutofit/>
            </a:bodyPr>
            <a:lstStyle/>
            <a:p>
              <a:pPr>
                <a:defRPr b="1" sz="4200">
                  <a:latin typeface="Aptos"/>
                  <a:ea typeface="Aptos"/>
                  <a:cs typeface="Aptos"/>
                  <a:sym typeface="Aptos"/>
                </a:defRPr>
              </a:pPr>
              <a:r>
                <a:t>Methods</a:t>
              </a:r>
            </a:p>
            <a:p>
              <a:pPr>
                <a:lnSpc>
                  <a:spcPct val="150000"/>
                </a:lnSpc>
                <a:defRPr b="1" sz="2800">
                  <a:latin typeface="Aptos"/>
                  <a:ea typeface="Aptos"/>
                  <a:cs typeface="Aptos"/>
                  <a:sym typeface="Aptos"/>
                </a:defRPr>
              </a:pPr>
              <a:r>
                <a:t>Data Sources</a:t>
              </a:r>
            </a:p>
            <a:p>
              <a:pPr>
                <a:defRPr sz="2800">
                  <a:latin typeface="Aptos"/>
                  <a:ea typeface="Aptos"/>
                  <a:cs typeface="Aptos"/>
                  <a:sym typeface="Aptos"/>
                </a:defRPr>
              </a:pPr>
              <a:r>
                <a:t> THECB enrollment data (36,175 records, 265 counties, 2019-2024) and TEA SAT/ACT performance data (6,455 district-year records, 252 counties, 2019-2024).</a:t>
              </a:r>
            </a:p>
            <a:p>
              <a:pPr>
                <a:defRPr sz="2800">
                  <a:latin typeface="Aptos"/>
                  <a:ea typeface="Aptos"/>
                  <a:cs typeface="Aptos"/>
                  <a:sym typeface="Aptos"/>
                </a:defRPr>
              </a:pPr>
            </a:p>
            <a:p>
              <a:pPr>
                <a:lnSpc>
                  <a:spcPct val="150000"/>
                </a:lnSpc>
                <a:defRPr b="1" sz="2800">
                  <a:latin typeface="Aptos"/>
                  <a:ea typeface="Aptos"/>
                  <a:cs typeface="Aptos"/>
                  <a:sym typeface="Aptos"/>
                </a:defRPr>
              </a:pPr>
              <a:r>
                <a:t>Processing</a:t>
              </a:r>
            </a:p>
            <a:p>
              <a:pPr>
                <a:defRPr sz="2800">
                  <a:latin typeface="Aptos"/>
                  <a:ea typeface="Aptos"/>
                  <a:cs typeface="Aptos"/>
                  <a:sym typeface="Aptos"/>
                </a:defRPr>
              </a:pPr>
              <a:r>
                <a:t> Cleaned and standardized county names, aggregated district-level data to county level, calculated market share for TXST and seven competitor institutions (UT Austin, Texas A&amp;M, Texas Tech, SFA, UTSA, UNT, UH). Used most recent year data for each county.</a:t>
              </a:r>
            </a:p>
            <a:p>
              <a:pPr>
                <a:defRPr sz="2800">
                  <a:latin typeface="Aptos"/>
                  <a:ea typeface="Aptos"/>
                  <a:cs typeface="Aptos"/>
                  <a:sym typeface="Aptos"/>
                </a:defRPr>
              </a:pPr>
            </a:p>
            <a:p>
              <a:pPr>
                <a:lnSpc>
                  <a:spcPct val="150000"/>
                </a:lnSpc>
                <a:defRPr b="1" sz="2800">
                  <a:latin typeface="Aptos"/>
                  <a:ea typeface="Aptos"/>
                  <a:cs typeface="Aptos"/>
                  <a:sym typeface="Aptos"/>
                </a:defRPr>
              </a:pPr>
              <a:r>
                <a:t>Opportunity Scoring</a:t>
              </a:r>
            </a:p>
            <a:p>
              <a:pPr>
                <a:defRPr sz="2800">
                  <a:latin typeface="Aptos"/>
                  <a:ea typeface="Aptos"/>
                  <a:cs typeface="Aptos"/>
                  <a:sym typeface="Aptos"/>
                </a:defRPr>
              </a:pPr>
              <a:r>
                <a:t>Developed composite 0-100 score based on: Academic Performance (40%), Market Size (30%), TXST Growth Headroom (20%), and Test Participation (10%).</a:t>
              </a:r>
            </a:p>
            <a:p>
              <a:pPr>
                <a:defRPr sz="2800">
                  <a:latin typeface="Aptos"/>
                  <a:ea typeface="Aptos"/>
                  <a:cs typeface="Aptos"/>
                  <a:sym typeface="Aptos"/>
                </a:defRPr>
              </a:pPr>
            </a:p>
            <a:p>
              <a:pPr>
                <a:lnSpc>
                  <a:spcPct val="150000"/>
                </a:lnSpc>
                <a:defRPr b="1" sz="2800">
                  <a:latin typeface="Aptos"/>
                  <a:ea typeface="Aptos"/>
                  <a:cs typeface="Aptos"/>
                  <a:sym typeface="Aptos"/>
                </a:defRPr>
              </a:pPr>
              <a:r>
                <a:t>Tier Classification</a:t>
              </a:r>
            </a:p>
            <a:p>
              <a:pPr>
                <a:defRPr sz="2800">
                  <a:latin typeface="Aptos"/>
                  <a:ea typeface="Aptos"/>
                  <a:cs typeface="Aptos"/>
                  <a:sym typeface="Aptos"/>
                </a:defRPr>
              </a:pPr>
              <a:r>
                <a:t> Counties classified into five strategic tiers based on college readiness (≥25% threshold), market size (&gt;2,000 students), and TXST market share (&lt;10%). Tier 1 represents highest opportunity (high performance + large market + low TXST presence).</a:t>
              </a:r>
            </a:p>
            <a:p>
              <a:pPr>
                <a:defRPr sz="2800">
                  <a:latin typeface="Aptos"/>
                  <a:ea typeface="Aptos"/>
                  <a:cs typeface="Aptos"/>
                  <a:sym typeface="Aptos"/>
                </a:defRPr>
              </a:pPr>
            </a:p>
            <a:p>
              <a:pPr>
                <a:lnSpc>
                  <a:spcPct val="150000"/>
                </a:lnSpc>
                <a:defRPr b="1" sz="2800">
                  <a:latin typeface="Aptos"/>
                  <a:ea typeface="Aptos"/>
                  <a:cs typeface="Aptos"/>
                  <a:sym typeface="Aptos"/>
                </a:defRPr>
              </a:pPr>
              <a:r>
                <a:t>Visualization</a:t>
              </a:r>
            </a:p>
            <a:p>
              <a:pPr>
                <a:defRPr sz="2800">
                  <a:latin typeface="Aptos"/>
                  <a:ea typeface="Aptos"/>
                  <a:cs typeface="Aptos"/>
                  <a:sym typeface="Aptos"/>
                </a:defRPr>
              </a:pPr>
              <a:r>
                <a:t>Interactive choropleth maps created using Plotly and Census TIGER/Line shapefiles showing county-level dominance, academic performance, and strategic opportunities.</a:t>
              </a:r>
            </a:p>
          </p:txBody>
        </p:sp>
      </p:grpSp>
      <p:grpSp>
        <p:nvGrpSpPr>
          <p:cNvPr id="104" name="TextBox 7"/>
          <p:cNvGrpSpPr/>
          <p:nvPr/>
        </p:nvGrpSpPr>
        <p:grpSpPr>
          <a:xfrm>
            <a:off x="33003480" y="5650319"/>
            <a:ext cx="9903701" cy="10128786"/>
            <a:chOff x="0" y="0"/>
            <a:chExt cx="9903700" cy="10128784"/>
          </a:xfrm>
        </p:grpSpPr>
        <p:sp>
          <p:nvSpPr>
            <p:cNvPr id="102" name="Rectangle"/>
            <p:cNvSpPr/>
            <p:nvPr/>
          </p:nvSpPr>
          <p:spPr>
            <a:xfrm>
              <a:off x="0" y="0"/>
              <a:ext cx="9903701" cy="10128785"/>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103" name="Results…"/>
            <p:cNvSpPr txBox="1"/>
            <p:nvPr/>
          </p:nvSpPr>
          <p:spPr>
            <a:xfrm>
              <a:off x="45015" y="-1"/>
              <a:ext cx="9813669" cy="964360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noAutofit/>
            </a:bodyPr>
            <a:lstStyle/>
            <a:p>
              <a:pPr>
                <a:defRPr b="1" sz="4200">
                  <a:latin typeface="Aptos"/>
                  <a:ea typeface="Aptos"/>
                  <a:cs typeface="Aptos"/>
                  <a:sym typeface="Aptos"/>
                </a:defRPr>
              </a:pPr>
              <a:r>
                <a:t>Results </a:t>
              </a:r>
            </a:p>
            <a:p>
              <a:pPr marL="228600" indent="-228600">
                <a:buSzPct val="100000"/>
                <a:buChar char="•"/>
                <a:defRPr sz="2800">
                  <a:latin typeface="Aptos"/>
                  <a:ea typeface="Aptos"/>
                  <a:cs typeface="Aptos"/>
                  <a:sym typeface="Aptos"/>
                </a:defRPr>
              </a:pPr>
              <a:r>
                <a:t>THECB enrollment data and SAT/ACT readiness data were merged to create a combined dataset covering 265 Texas counties, with 229 counties containing both enrollment and academic readiness metrics.</a:t>
              </a:r>
            </a:p>
            <a:p>
              <a:pPr marL="228600" indent="-228600">
                <a:buSzPct val="100000"/>
                <a:buChar char="•"/>
                <a:defRPr sz="2800">
                  <a:latin typeface="Aptos"/>
                  <a:ea typeface="Aptos"/>
                  <a:cs typeface="Aptos"/>
                  <a:sym typeface="Aptos"/>
                </a:defRPr>
              </a:pPr>
              <a:r>
                <a:t>Counties were classified into five strategic recruitment tiers based on college readiness, total student market, and Texas State (TXST) market share.</a:t>
              </a:r>
            </a:p>
            <a:p>
              <a:pPr marL="228600" indent="-228600">
                <a:buSzPct val="100000"/>
                <a:buChar char="•"/>
                <a:defRPr sz="2800">
                  <a:latin typeface="Aptos"/>
                  <a:ea typeface="Aptos"/>
                  <a:cs typeface="Aptos"/>
                  <a:sym typeface="Aptos"/>
                </a:defRPr>
              </a:pPr>
              <a:r>
                <a:t>6 Tier 1 (prime target) and 20 Tier 2 (strong opportunity) counties were identified as high-growth regions where academic performance is strong but TXST presence is low.</a:t>
              </a:r>
            </a:p>
            <a:p>
              <a:pPr marL="228600" indent="-228600">
                <a:buSzPct val="100000"/>
                <a:buChar char="•"/>
                <a:defRPr sz="2800">
                  <a:latin typeface="Aptos"/>
                  <a:ea typeface="Aptos"/>
                  <a:cs typeface="Aptos"/>
                  <a:sym typeface="Aptos"/>
                </a:defRPr>
              </a:pPr>
              <a:r>
                <a:t>Tier 1 counties alone represent a potential market of 85,560 students, with projected growth of +11,017 TXST students if market share increased to 15%.</a:t>
              </a:r>
            </a:p>
            <a:p>
              <a:pPr marL="228600" indent="-228600">
                <a:buSzPct val="100000"/>
                <a:buChar char="•"/>
                <a:defRPr sz="2800">
                  <a:latin typeface="Aptos"/>
                  <a:ea typeface="Aptos"/>
                  <a:cs typeface="Aptos"/>
                  <a:sym typeface="Aptos"/>
                </a:defRPr>
              </a:pPr>
              <a:r>
                <a:t>Prime target counties show significantly higher academic readiness (~29.9%) compared to the statewide average (15.6%), indicating strong recruitment alignment.</a:t>
              </a:r>
            </a:p>
            <a:p>
              <a:pPr marL="228600" indent="-228600">
                <a:buSzPct val="100000"/>
                <a:buChar char="•"/>
                <a:defRPr sz="2800">
                  <a:latin typeface="Aptos"/>
                  <a:ea typeface="Aptos"/>
                  <a:cs typeface="Aptos"/>
                  <a:sym typeface="Aptos"/>
                </a:defRPr>
              </a:pPr>
              <a:r>
                <a:t>Overall, results highlight geographically concentrated regions where targeted recruitment could substantially increase TXST enrollment.</a:t>
              </a:r>
            </a:p>
            <a:p>
              <a:pPr>
                <a:defRPr sz="2800">
                  <a:latin typeface="Aptos"/>
                  <a:ea typeface="Aptos"/>
                  <a:cs typeface="Aptos"/>
                  <a:sym typeface="Aptos"/>
                </a:defRPr>
              </a:pPr>
            </a:p>
            <a:p>
              <a:pPr marL="228600" indent="-228600">
                <a:buSzPct val="100000"/>
                <a:buChar char="•"/>
                <a:defRPr sz="2800">
                  <a:latin typeface="Aptos"/>
                  <a:ea typeface="Aptos"/>
                  <a:cs typeface="Aptos"/>
                  <a:sym typeface="Aptos"/>
                </a:defRPr>
              </a:pPr>
            </a:p>
            <a:p>
              <a:pPr>
                <a:defRPr sz="1200">
                  <a:solidFill>
                    <a:srgbClr val="000000"/>
                  </a:solidFill>
                  <a:latin typeface="Times Roman"/>
                  <a:ea typeface="Times Roman"/>
                  <a:cs typeface="Times Roman"/>
                  <a:sym typeface="Times Roman"/>
                </a:defRPr>
              </a:pPr>
            </a:p>
          </p:txBody>
        </p:sp>
      </p:grpSp>
      <p:grpSp>
        <p:nvGrpSpPr>
          <p:cNvPr id="107" name="TextBox 8"/>
          <p:cNvGrpSpPr/>
          <p:nvPr/>
        </p:nvGrpSpPr>
        <p:grpSpPr>
          <a:xfrm>
            <a:off x="23257715" y="5650319"/>
            <a:ext cx="9144001" cy="10886283"/>
            <a:chOff x="0" y="0"/>
            <a:chExt cx="9144000" cy="10886282"/>
          </a:xfrm>
        </p:grpSpPr>
        <p:sp>
          <p:nvSpPr>
            <p:cNvPr id="105" name="Rectangle"/>
            <p:cNvSpPr/>
            <p:nvPr/>
          </p:nvSpPr>
          <p:spPr>
            <a:xfrm>
              <a:off x="0" y="0"/>
              <a:ext cx="9144001" cy="10886283"/>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106" name="Findings…"/>
            <p:cNvSpPr/>
            <p:nvPr/>
          </p:nvSpPr>
          <p:spPr>
            <a:xfrm>
              <a:off x="45718" y="-1"/>
              <a:ext cx="9052563"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p>
              <a:pPr>
                <a:defRPr b="1" sz="4200">
                  <a:latin typeface="Aptos"/>
                  <a:ea typeface="Aptos"/>
                  <a:cs typeface="Aptos"/>
                  <a:sym typeface="Aptos"/>
                </a:defRPr>
              </a:pPr>
              <a:r>
                <a:t>Findings</a:t>
              </a:r>
            </a:p>
            <a:p>
              <a:pPr marL="280736" indent="-280736">
                <a:spcBef>
                  <a:spcPts val="1200"/>
                </a:spcBef>
                <a:buSzPct val="100000"/>
                <a:buChar char="•"/>
                <a:defRPr sz="2800">
                  <a:latin typeface="Aptos"/>
                  <a:ea typeface="Aptos"/>
                  <a:cs typeface="Aptos"/>
                  <a:sym typeface="Aptos"/>
                </a:defRPr>
              </a:pPr>
              <a:r>
                <a:t>TXST currently has strong representation in Central Texas but remains underrepresented in several high-performing, high-volume counties across North and West Texas.</a:t>
              </a:r>
            </a:p>
            <a:p>
              <a:pPr marL="280736" indent="-280736">
                <a:spcBef>
                  <a:spcPts val="1200"/>
                </a:spcBef>
                <a:buSzPct val="100000"/>
                <a:buChar char="•"/>
                <a:defRPr sz="2800">
                  <a:latin typeface="Aptos"/>
                  <a:ea typeface="Aptos"/>
                  <a:cs typeface="Aptos"/>
                  <a:sym typeface="Aptos"/>
                </a:defRPr>
              </a:pPr>
              <a:r>
                <a:t>Prime and strong-opportunity counties demonstrate significantly higher college readiness rates than TXST-dominant regions, suggesting missed recruitment potential among academically prepared students.</a:t>
              </a:r>
            </a:p>
            <a:p>
              <a:pPr marL="280736" indent="-280736">
                <a:spcBef>
                  <a:spcPts val="1200"/>
                </a:spcBef>
                <a:buSzPct val="100000"/>
                <a:buChar char="•"/>
                <a:defRPr sz="2800">
                  <a:latin typeface="Aptos"/>
                  <a:ea typeface="Aptos"/>
                  <a:cs typeface="Aptos"/>
                  <a:sym typeface="Aptos"/>
                </a:defRPr>
              </a:pPr>
              <a:r>
                <a:t>Large suburban counties such as Collin and Denton contain substantial student markets with low TXST market share, representing the greatest potential enrollment growth.</a:t>
              </a:r>
            </a:p>
            <a:p>
              <a:pPr marL="280736" indent="-280736">
                <a:spcBef>
                  <a:spcPts val="1200"/>
                </a:spcBef>
                <a:buSzPct val="100000"/>
                <a:buChar char="•"/>
                <a:defRPr sz="2800">
                  <a:latin typeface="Aptos"/>
                  <a:ea typeface="Aptos"/>
                  <a:cs typeface="Aptos"/>
                  <a:sym typeface="Aptos"/>
                </a:defRPr>
              </a:pPr>
              <a:r>
                <a:t>Many high-readiness counties with low TXST presence are currently dominated by competing institutions, indicating strong but penetrable recruitment pipelines.</a:t>
              </a:r>
            </a:p>
            <a:p>
              <a:pPr marL="280736" indent="-280736">
                <a:spcBef>
                  <a:spcPts val="1200"/>
                </a:spcBef>
                <a:buSzPct val="100000"/>
                <a:buChar char="•"/>
                <a:defRPr sz="2800">
                  <a:latin typeface="Aptos"/>
                  <a:ea typeface="Aptos"/>
                  <a:cs typeface="Aptos"/>
                  <a:sym typeface="Aptos"/>
                </a:defRPr>
              </a:pPr>
              <a:r>
                <a:t>Rural counties with smaller markets but high readiness rates provide targeted niche recruitment opportunities with relatively low competition.</a:t>
              </a:r>
            </a:p>
            <a:p>
              <a:pPr marL="280736" indent="-280736">
                <a:spcBef>
                  <a:spcPts val="1200"/>
                </a:spcBef>
                <a:buSzPct val="100000"/>
                <a:buChar char="•"/>
                <a:defRPr sz="2800">
                  <a:latin typeface="Aptos"/>
                  <a:ea typeface="Aptos"/>
                  <a:cs typeface="Aptos"/>
                  <a:sym typeface="Aptos"/>
                </a:defRPr>
              </a:pPr>
              <a:r>
                <a:t>Overall, recruitment opportunities are not evenly distributed, with the highest-impact gains concentrated in a small number of strategically important counties.</a:t>
              </a:r>
            </a:p>
          </p:txBody>
        </p:sp>
      </p:grpSp>
      <p:grpSp>
        <p:nvGrpSpPr>
          <p:cNvPr id="110" name="TextBox 9"/>
          <p:cNvGrpSpPr/>
          <p:nvPr/>
        </p:nvGrpSpPr>
        <p:grpSpPr>
          <a:xfrm>
            <a:off x="33934214" y="16161528"/>
            <a:ext cx="9144002" cy="14855223"/>
            <a:chOff x="0" y="0"/>
            <a:chExt cx="9144000" cy="14855222"/>
          </a:xfrm>
        </p:grpSpPr>
        <p:sp>
          <p:nvSpPr>
            <p:cNvPr id="108" name="Rectangle"/>
            <p:cNvSpPr/>
            <p:nvPr/>
          </p:nvSpPr>
          <p:spPr>
            <a:xfrm>
              <a:off x="0" y="-1"/>
              <a:ext cx="9144001" cy="7577291"/>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109" name="Implications…"/>
            <p:cNvSpPr txBox="1"/>
            <p:nvPr/>
          </p:nvSpPr>
          <p:spPr>
            <a:xfrm>
              <a:off x="45718" y="0"/>
              <a:ext cx="9052563" cy="1485522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noAutofit/>
            </a:bodyPr>
            <a:lstStyle/>
            <a:p>
              <a:pPr>
                <a:defRPr b="1" sz="4200">
                  <a:latin typeface="Aptos"/>
                  <a:ea typeface="Aptos"/>
                  <a:cs typeface="Aptos"/>
                  <a:sym typeface="Aptos"/>
                </a:defRPr>
              </a:pPr>
              <a:r>
                <a:t>Implications </a:t>
              </a:r>
            </a:p>
            <a:p>
              <a:pPr marL="280736" indent="-280736">
                <a:buSzPct val="100000"/>
                <a:buChar char="•"/>
                <a:defRPr sz="2800">
                  <a:latin typeface="Aptos"/>
                  <a:ea typeface="Aptos"/>
                  <a:cs typeface="Aptos"/>
                  <a:sym typeface="Aptos"/>
                </a:defRPr>
              </a:pPr>
              <a:r>
                <a:t>Targeted recruitment in Tier 1 counties could significantly increase TXST enrollment, with potential growth of over 11,000 students if market share improves.</a:t>
              </a:r>
            </a:p>
            <a:p>
              <a:pPr marL="280736" indent="-280736">
                <a:buSzPct val="100000"/>
                <a:buChar char="•"/>
                <a:defRPr sz="2800">
                  <a:latin typeface="Aptos"/>
                  <a:ea typeface="Aptos"/>
                  <a:cs typeface="Aptos"/>
                  <a:sym typeface="Aptos"/>
                </a:defRPr>
              </a:pPr>
              <a:r>
                <a:t>Expanding outreach in high-readiness counties may improve academic profile and incoming student preparedness.</a:t>
              </a:r>
            </a:p>
            <a:p>
              <a:pPr marL="280736" indent="-280736">
                <a:buSzPct val="100000"/>
                <a:buChar char="•"/>
                <a:defRPr sz="2800">
                  <a:latin typeface="Aptos"/>
                  <a:ea typeface="Aptos"/>
                  <a:cs typeface="Aptos"/>
                  <a:sym typeface="Aptos"/>
                </a:defRPr>
              </a:pPr>
              <a:r>
                <a:t>Increased presence in large suburban counties (e.g., Collin, Denton) could strengthen TXST’s competitiveness against dominant institutions.</a:t>
              </a:r>
            </a:p>
            <a:p>
              <a:pPr marL="280736" indent="-280736">
                <a:buSzPct val="100000"/>
                <a:buChar char="•"/>
                <a:defRPr sz="2800">
                  <a:latin typeface="Aptos"/>
                  <a:ea typeface="Aptos"/>
                  <a:cs typeface="Aptos"/>
                  <a:sym typeface="Aptos"/>
                </a:defRPr>
              </a:pPr>
              <a:r>
                <a:t>Data-driven geographic targeting allows recruitment resources to be focused on high-impact regions rather than evenly distributed statewide.</a:t>
              </a:r>
            </a:p>
            <a:p>
              <a:pPr marL="280736" indent="-280736">
                <a:buSzPct val="100000"/>
                <a:buChar char="•"/>
                <a:defRPr sz="2800">
                  <a:latin typeface="Aptos"/>
                  <a:ea typeface="Aptos"/>
                  <a:cs typeface="Aptos"/>
                  <a:sym typeface="Aptos"/>
                </a:defRPr>
              </a:pPr>
              <a:r>
                <a:t>Strengthening pipelines in underrepresented but high-performing counties may support long-term enrollment growth and institutional visibility.</a:t>
              </a:r>
            </a:p>
          </p:txBody>
        </p:sp>
      </p:grpSp>
      <p:grpSp>
        <p:nvGrpSpPr>
          <p:cNvPr id="113" name="TextBox 10"/>
          <p:cNvGrpSpPr/>
          <p:nvPr/>
        </p:nvGrpSpPr>
        <p:grpSpPr>
          <a:xfrm>
            <a:off x="33881994" y="24218558"/>
            <a:ext cx="9593470" cy="4317063"/>
            <a:chOff x="0" y="0"/>
            <a:chExt cx="9593468" cy="4317061"/>
          </a:xfrm>
        </p:grpSpPr>
        <p:sp>
          <p:nvSpPr>
            <p:cNvPr id="111" name="Rectangle"/>
            <p:cNvSpPr/>
            <p:nvPr/>
          </p:nvSpPr>
          <p:spPr>
            <a:xfrm>
              <a:off x="0" y="-1"/>
              <a:ext cx="9593469" cy="4317063"/>
            </a:xfrm>
            <a:prstGeom prst="rect">
              <a:avLst/>
            </a:prstGeom>
            <a:solidFill>
              <a:srgbClr val="FFFFFF"/>
            </a:solidFill>
            <a:ln w="12700" cap="flat">
              <a:noFill/>
              <a:miter lim="400000"/>
            </a:ln>
            <a:effectLst/>
          </p:spPr>
          <p:txBody>
            <a:bodyPr wrap="square" lIns="45718" tIns="45718" rIns="45718" bIns="45718" numCol="1" anchor="t">
              <a:noAutofit/>
            </a:bodyPr>
            <a:lstStyle/>
            <a:p>
              <a:pPr>
                <a:defRPr>
                  <a:latin typeface="Aptos"/>
                  <a:ea typeface="Aptos"/>
                  <a:cs typeface="Aptos"/>
                  <a:sym typeface="Aptos"/>
                </a:defRPr>
              </a:pPr>
            </a:p>
          </p:txBody>
        </p:sp>
        <p:sp>
          <p:nvSpPr>
            <p:cNvPr id="112" name="Reference/Data Cite…"/>
            <p:cNvSpPr txBox="1"/>
            <p:nvPr/>
          </p:nvSpPr>
          <p:spPr>
            <a:xfrm>
              <a:off x="47965" y="-1"/>
              <a:ext cx="9497537" cy="2574247"/>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noAutofit/>
            </a:bodyPr>
            <a:lstStyle/>
            <a:p>
              <a:pPr>
                <a:defRPr b="1" sz="4200">
                  <a:latin typeface="Aptos"/>
                  <a:ea typeface="Aptos"/>
                  <a:cs typeface="Aptos"/>
                  <a:sym typeface="Aptos"/>
                </a:defRPr>
              </a:pPr>
              <a:r>
                <a:t>Reference/Data Cite</a:t>
              </a:r>
            </a:p>
            <a:p>
              <a:pPr>
                <a:defRPr sz="2800">
                  <a:latin typeface="Aptos"/>
                  <a:ea typeface="Aptos"/>
                  <a:cs typeface="Aptos"/>
                  <a:sym typeface="Aptos"/>
                </a:defRPr>
              </a:pPr>
              <a:r>
                <a:t>Content goes here: Totat ullaborernam harci cus, cuscidendit lat et as eum explit apicaboria am que vendent inullup tatur? Quia voluptat ut prae. Qui blatibu saecture, ut volor as a audae es elenti quis. </a:t>
              </a:r>
            </a:p>
          </p:txBody>
        </p:sp>
      </p:grpSp>
      <p:pic>
        <p:nvPicPr>
          <p:cNvPr id="114" name="Screenshot 2026-02-10 at 12.34.27 AM.png" descr="Screenshot 2026-02-10 at 12.34.27 AM.png"/>
          <p:cNvPicPr>
            <a:picLocks noChangeAspect="1"/>
          </p:cNvPicPr>
          <p:nvPr/>
        </p:nvPicPr>
        <p:blipFill>
          <a:blip r:embed="rId3">
            <a:extLst/>
          </a:blip>
          <a:stretch>
            <a:fillRect/>
          </a:stretch>
        </p:blipFill>
        <p:spPr>
          <a:xfrm>
            <a:off x="23505182" y="27951493"/>
            <a:ext cx="5417272" cy="4890187"/>
          </a:xfrm>
          <a:prstGeom prst="rect">
            <a:avLst/>
          </a:prstGeom>
          <a:ln w="12700">
            <a:miter lim="400000"/>
          </a:ln>
        </p:spPr>
      </p:pic>
      <p:pic>
        <p:nvPicPr>
          <p:cNvPr id="115" name="Screenshot 2026-02-10 at 1.01.38 PM.png" descr="Screenshot 2026-02-10 at 1.01.38 PM.png"/>
          <p:cNvPicPr>
            <a:picLocks noChangeAspect="1"/>
          </p:cNvPicPr>
          <p:nvPr/>
        </p:nvPicPr>
        <p:blipFill>
          <a:blip r:embed="rId4">
            <a:extLst/>
          </a:blip>
          <a:stretch>
            <a:fillRect/>
          </a:stretch>
        </p:blipFill>
        <p:spPr>
          <a:xfrm>
            <a:off x="11125908" y="27370915"/>
            <a:ext cx="6970266" cy="4958796"/>
          </a:xfrm>
          <a:prstGeom prst="rect">
            <a:avLst/>
          </a:prstGeom>
          <a:ln w="12700">
            <a:miter lim="400000"/>
          </a:ln>
        </p:spPr>
      </p:pic>
      <p:pic>
        <p:nvPicPr>
          <p:cNvPr id="116" name="Screenshot 2026-02-10 at 12.56.03 PM.png" descr="Screenshot 2026-02-10 at 12.56.03 PM.png"/>
          <p:cNvPicPr>
            <a:picLocks noChangeAspect="1"/>
          </p:cNvPicPr>
          <p:nvPr/>
        </p:nvPicPr>
        <p:blipFill>
          <a:blip r:embed="rId5">
            <a:extLst/>
          </a:blip>
          <a:stretch>
            <a:fillRect/>
          </a:stretch>
        </p:blipFill>
        <p:spPr>
          <a:xfrm>
            <a:off x="11390681" y="19332842"/>
            <a:ext cx="6198264" cy="4634482"/>
          </a:xfrm>
          <a:prstGeom prst="rect">
            <a:avLst/>
          </a:prstGeom>
          <a:ln w="12700">
            <a:miter lim="400000"/>
          </a:ln>
        </p:spPr>
      </p:pic>
      <p:pic>
        <p:nvPicPr>
          <p:cNvPr id="117" name="Screenshot 2026-02-10 at 10.44.56 PM.png" descr="Screenshot 2026-02-10 at 10.44.56 PM.png"/>
          <p:cNvPicPr>
            <a:picLocks noChangeAspect="1"/>
          </p:cNvPicPr>
          <p:nvPr/>
        </p:nvPicPr>
        <p:blipFill>
          <a:blip r:embed="rId6">
            <a:extLst/>
          </a:blip>
          <a:stretch>
            <a:fillRect/>
          </a:stretch>
        </p:blipFill>
        <p:spPr>
          <a:xfrm>
            <a:off x="19265096" y="19530811"/>
            <a:ext cx="13897444" cy="8116657"/>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Research Poster">
  <a:themeElements>
    <a:clrScheme name="Research Poster">
      <a:dk1>
        <a:srgbClr val="363434"/>
      </a:dk1>
      <a:lt1>
        <a:srgbClr val="501214"/>
      </a:lt1>
      <a:dk2>
        <a:srgbClr val="A7A7A7"/>
      </a:dk2>
      <a:lt2>
        <a:srgbClr val="535353"/>
      </a:lt2>
      <a:accent1>
        <a:srgbClr val="D7BD8A"/>
      </a:accent1>
      <a:accent2>
        <a:srgbClr val="EB2E47"/>
      </a:accent2>
      <a:accent3>
        <a:srgbClr val="6EA095"/>
      </a:accent3>
      <a:accent4>
        <a:srgbClr val="EBBA45"/>
      </a:accent4>
      <a:accent5>
        <a:srgbClr val="EA664D"/>
      </a:accent5>
      <a:accent6>
        <a:srgbClr val="AC9155"/>
      </a:accent6>
      <a:hlink>
        <a:srgbClr val="0000FF"/>
      </a:hlink>
      <a:folHlink>
        <a:srgbClr val="FF00FF"/>
      </a:folHlink>
    </a:clrScheme>
    <a:fontScheme name="Research Poster">
      <a:majorFont>
        <a:latin typeface="Helvetica"/>
        <a:ea typeface="Helvetica"/>
        <a:cs typeface="Helvetica"/>
      </a:majorFont>
      <a:minorFont>
        <a:latin typeface="Calibri"/>
        <a:ea typeface="Calibri"/>
        <a:cs typeface="Calibri"/>
      </a:minorFont>
    </a:fontScheme>
    <a:fmtScheme name="Research Poste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01214"/>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Research Poster">
  <a:themeElements>
    <a:clrScheme name="Research Poster">
      <a:dk1>
        <a:srgbClr val="000000"/>
      </a:dk1>
      <a:lt1>
        <a:srgbClr val="FFFFFF"/>
      </a:lt1>
      <a:dk2>
        <a:srgbClr val="A7A7A7"/>
      </a:dk2>
      <a:lt2>
        <a:srgbClr val="535353"/>
      </a:lt2>
      <a:accent1>
        <a:srgbClr val="D7BD8A"/>
      </a:accent1>
      <a:accent2>
        <a:srgbClr val="EB2E47"/>
      </a:accent2>
      <a:accent3>
        <a:srgbClr val="6EA095"/>
      </a:accent3>
      <a:accent4>
        <a:srgbClr val="EBBA45"/>
      </a:accent4>
      <a:accent5>
        <a:srgbClr val="EA664D"/>
      </a:accent5>
      <a:accent6>
        <a:srgbClr val="AC9155"/>
      </a:accent6>
      <a:hlink>
        <a:srgbClr val="0000FF"/>
      </a:hlink>
      <a:folHlink>
        <a:srgbClr val="FF00FF"/>
      </a:folHlink>
    </a:clrScheme>
    <a:fontScheme name="Research Poster">
      <a:majorFont>
        <a:latin typeface="Helvetica"/>
        <a:ea typeface="Helvetica"/>
        <a:cs typeface="Helvetica"/>
      </a:majorFont>
      <a:minorFont>
        <a:latin typeface="Calibri"/>
        <a:ea typeface="Calibri"/>
        <a:cs typeface="Calibri"/>
      </a:minorFont>
    </a:fontScheme>
    <a:fmtScheme name="Research Poste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01214"/>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363434"/>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