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A40"/>
    <a:srgbClr val="C42C48"/>
    <a:srgbClr val="501214"/>
    <a:srgbClr val="A18A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734"/>
    <p:restoredTop sz="96376" autoAdjust="0"/>
  </p:normalViewPr>
  <p:slideViewPr>
    <p:cSldViewPr snapToGrid="0">
      <p:cViewPr>
        <p:scale>
          <a:sx n="26" d="100"/>
          <a:sy n="26" d="100"/>
        </p:scale>
        <p:origin x="2400" y="3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987AA8-E2E4-6346-957B-53DDA6B87A4D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EC17E-66F9-8D46-AB06-0783D4B00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40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EC17E-66F9-8D46-AB06-0783D4B00B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666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348F3670-9616-6933-0D8C-D8F06235D89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7089" y="30175200"/>
            <a:ext cx="10058400" cy="1812244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5D040BE2-2A67-FBE0-A98F-B0D85AA1908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2424573" y="25745169"/>
            <a:ext cx="100584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A813508E-B9EB-6C09-E96C-12AA995DFC6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220661" y="21247101"/>
            <a:ext cx="3254828" cy="41148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6CB25B35-8C3A-F255-4247-63CCF2DCEAA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2432057" y="21298582"/>
            <a:ext cx="64008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CEB33FC1-5473-7A12-3E8D-C58CC21D28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228598" y="16800514"/>
            <a:ext cx="3254828" cy="41148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6011BDB6-C438-5329-5DAC-2A45C1F447E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2432057" y="16817070"/>
            <a:ext cx="64008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CEF88326-8D26-5EC1-BD8A-E1116CB170B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415712" y="30191756"/>
            <a:ext cx="10058400" cy="1812244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29E9E52-3736-62F8-E282-CD10E8BFE7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1408229" y="25728613"/>
            <a:ext cx="100584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35A505-F2F6-EC1B-F2D5-1E9A1D8140E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011854" y="21282026"/>
            <a:ext cx="64008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025CF888-D949-CCC5-72E0-76825D0B59D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15713" y="21298582"/>
            <a:ext cx="3254828" cy="41148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BE82858-A3ED-0689-7990-78BBAD5A24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204316" y="16800514"/>
            <a:ext cx="3254828" cy="41148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A36445EC-F62C-42DA-66E0-5DA2F7D8BEE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1415713" y="16800514"/>
            <a:ext cx="64008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77ADE4D-4ABA-E655-59C1-E92411C4EE8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399" y="3546473"/>
            <a:ext cx="42062399" cy="649922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4389120" rtl="0" eaLnBrk="1" fontAlgn="auto" latinLnBrk="0" hangingPunct="1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>
                <a:solidFill>
                  <a:schemeClr val="bg1"/>
                </a:solidFill>
              </a:defRPr>
            </a:lvl1pPr>
          </a:lstStyle>
          <a:p>
            <a:pPr marL="0" marR="0" lvl="0" indent="0" algn="l" defTabSz="4389120" rtl="0" eaLnBrk="1" fontAlgn="auto" latinLnBrk="0" hangingPunct="1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Department of {Insert Name Here}, College {Insert Name Here}, Texas State University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46344EA-D2DF-ECEE-98B9-CE46934433F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4399" y="2537430"/>
            <a:ext cx="42062399" cy="928716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4389120" rtl="0" eaLnBrk="1" fontAlgn="auto" latinLnBrk="0" hangingPunct="1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>
                <a:solidFill>
                  <a:schemeClr val="bg1"/>
                </a:solidFill>
              </a:defRPr>
            </a:lvl1pPr>
          </a:lstStyle>
          <a:p>
            <a:pPr marL="0" marR="0" lvl="0" indent="0" algn="l" defTabSz="4389120" rtl="0" eaLnBrk="1" fontAlgn="auto" latinLnBrk="0" hangingPunct="1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Presenter Name, Associates and Collaborators</a:t>
            </a:r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CB283C4F-E4CE-24D4-D880-EAB5170C0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144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D5F6D023-ED97-6394-3659-BBA26602E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8912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1054662-E870-ED5A-5CA6-EDBBC2196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7202" y="4968755"/>
            <a:ext cx="44805600" cy="365760"/>
          </a:xfrm>
          <a:prstGeom prst="rect">
            <a:avLst/>
          </a:prstGeom>
        </p:spPr>
      </p:pic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348F3670-9616-6933-0D8C-D8F06235D89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7089" y="30175200"/>
            <a:ext cx="10058400" cy="1812244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5D040BE2-2A67-FBE0-A98F-B0D85AA1908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2424573" y="25745169"/>
            <a:ext cx="100584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A813508E-B9EB-6C09-E96C-12AA995DFC6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220661" y="21247101"/>
            <a:ext cx="3254828" cy="41148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6CB25B35-8C3A-F255-4247-63CCF2DCEAA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2432057" y="21298582"/>
            <a:ext cx="64008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CEB33FC1-5473-7A12-3E8D-C58CC21D28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228598" y="16800514"/>
            <a:ext cx="3254828" cy="41148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6011BDB6-C438-5329-5DAC-2A45C1F447E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2432057" y="16817070"/>
            <a:ext cx="64008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CEF88326-8D26-5EC1-BD8A-E1116CB170B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415712" y="30191756"/>
            <a:ext cx="10058400" cy="1812244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29E9E52-3736-62F8-E282-CD10E8BFE7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1408229" y="25728613"/>
            <a:ext cx="100584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35A505-F2F6-EC1B-F2D5-1E9A1D8140E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011854" y="21282026"/>
            <a:ext cx="64008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025CF888-D949-CCC5-72E0-76825D0B59D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15713" y="21298582"/>
            <a:ext cx="3254828" cy="41148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BE82858-A3ED-0689-7990-78BBAD5A24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204316" y="16800514"/>
            <a:ext cx="3254828" cy="41148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>
              <a:spcBef>
                <a:spcPts val="1800"/>
              </a:spcBef>
              <a:buNone/>
              <a:defRPr sz="2100" i="1"/>
            </a:lvl1pPr>
          </a:lstStyle>
          <a:p>
            <a:pPr lvl="0"/>
            <a:r>
              <a:rPr lang="en-US" dirty="0"/>
              <a:t>This is the suggested format for captions.</a:t>
            </a:r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A36445EC-F62C-42DA-66E0-5DA2F7D8BEE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1415713" y="16800514"/>
            <a:ext cx="6400800" cy="411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77ADE4D-4ABA-E655-59C1-E92411C4EE8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399" y="3546473"/>
            <a:ext cx="42062399" cy="649922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4389120" rtl="0" eaLnBrk="1" fontAlgn="auto" latinLnBrk="0" hangingPunct="1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>
                <a:solidFill>
                  <a:schemeClr val="tx1"/>
                </a:solidFill>
              </a:defRPr>
            </a:lvl1pPr>
          </a:lstStyle>
          <a:p>
            <a:pPr marL="0" marR="0" lvl="0" indent="0" algn="l" defTabSz="4389120" rtl="0" eaLnBrk="1" fontAlgn="auto" latinLnBrk="0" hangingPunct="1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Department of {Insert Name Here}, College {Insert Name Here}, Texas State University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46344EA-D2DF-ECEE-98B9-CE46934433F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4399" y="2537430"/>
            <a:ext cx="42062399" cy="928716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4389120" rtl="0" eaLnBrk="1" fontAlgn="auto" latinLnBrk="0" hangingPunct="1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>
                <a:solidFill>
                  <a:schemeClr val="tx1"/>
                </a:solidFill>
              </a:defRPr>
            </a:lvl1pPr>
          </a:lstStyle>
          <a:p>
            <a:pPr marL="0" marR="0" lvl="0" indent="0" algn="l" defTabSz="4389120" rtl="0" eaLnBrk="1" fontAlgn="auto" latinLnBrk="0" hangingPunct="1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Presenter Name, Associates and Collaborators</a:t>
            </a:r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CB283C4F-E4CE-24D4-D880-EAB5170C0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66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671D48-852B-8BE9-3263-5100FF9B5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5009321"/>
            <a:ext cx="43891200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Texas State University.">
            <a:extLst>
              <a:ext uri="{FF2B5EF4-FFF2-40B4-BE49-F238E27FC236}">
                <a16:creationId xmlns:a16="http://schemas.microsoft.com/office/drawing/2014/main" id="{F4E8DC6A-0E94-E6C7-914A-412F936886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3383331" y="28823447"/>
            <a:ext cx="9144000" cy="2053732"/>
          </a:xfrm>
          <a:prstGeom prst="rect">
            <a:avLst/>
          </a:prstGeom>
        </p:spPr>
      </p:pic>
      <p:pic>
        <p:nvPicPr>
          <p:cNvPr id="15" name="Picture 14" descr="Member of the Texas State University System.&#10;">
            <a:extLst>
              <a:ext uri="{FF2B5EF4-FFF2-40B4-BE49-F238E27FC236}">
                <a16:creationId xmlns:a16="http://schemas.microsoft.com/office/drawing/2014/main" id="{80FBDA11-CAA9-F2EE-7E98-6FCA1A1610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3383331" y="31367267"/>
            <a:ext cx="9593468" cy="636734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4D011F31-6892-A6DA-1FEC-4D0C20C01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42062399" cy="1741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753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1" r:id="rId2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10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160" userDrawn="1">
          <p15:clr>
            <a:srgbClr val="F26B43"/>
          </p15:clr>
        </p15:guide>
        <p15:guide id="2" pos="6912" userDrawn="1">
          <p15:clr>
            <a:srgbClr val="F26B43"/>
          </p15:clr>
        </p15:guide>
        <p15:guide id="3" pos="13824" userDrawn="1">
          <p15:clr>
            <a:srgbClr val="F26B43"/>
          </p15:clr>
        </p15:guide>
        <p15:guide id="4" pos="20736" userDrawn="1">
          <p15:clr>
            <a:srgbClr val="F26B43"/>
          </p15:clr>
        </p15:guide>
        <p15:guide id="5" orient="horz" pos="3456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  <p15:guide id="7" pos="576" userDrawn="1">
          <p15:clr>
            <a:srgbClr val="F26B43"/>
          </p15:clr>
        </p15:guide>
        <p15:guide id="8" pos="270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D11A0862-1828-04EC-C7EE-88F3B05D935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558408" y="20985727"/>
            <a:ext cx="3324940" cy="5276146"/>
          </a:xfrm>
        </p:spPr>
        <p:txBody>
          <a:bodyPr/>
          <a:lstStyle/>
          <a:p>
            <a:pPr defTabSz="3994098">
              <a:spcBef>
                <a:spcPts val="1600"/>
              </a:spcBef>
              <a:defRPr sz="1900"/>
            </a:pPr>
            <a:r>
              <a:rPr lang="en-US" sz="2400" dirty="0"/>
              <a:t>TSI Readiness Performance by County - Percentage of graduates meeting Texas Success Initiative standards in both Math and Reading/Writing. Higher rates indicate students ready for college-level coursework without remediation.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EEBCB929-0293-B6B2-8246-CD9487F49AA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4031727" y="29843386"/>
            <a:ext cx="9390519" cy="2374602"/>
          </a:xfrm>
        </p:spPr>
        <p:txBody>
          <a:bodyPr/>
          <a:lstStyle/>
          <a:p>
            <a:r>
              <a:rPr lang="en-US" sz="2400" dirty="0"/>
              <a:t>Counties classified into recruitment priority tiers based on a composite opportunity score combining academic performance (College Readiness and TSI Ready rates), market size (total graduates), current TXST market share, and test participation rates. Tier 1 (Gold) = highest priority targets with strong academics, large markets, and low TXST presence. Lower tiers indicate smaller markets or areas where TXST already has strong enrollment.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751E88A1-93E7-CCE3-77B7-96DC4A8FDAD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0558408" y="26374364"/>
            <a:ext cx="3324940" cy="5235782"/>
          </a:xfrm>
        </p:spPr>
        <p:txBody>
          <a:bodyPr/>
          <a:lstStyle/>
          <a:p>
            <a:r>
              <a:rPr lang="en-US" sz="2400" dirty="0"/>
              <a:t>SAT/ACT Test Participation Rates by County - Percentage of graduates taking college entrance exams. Blue counties show high college-going culture; red counties indicate lower test-taking engagement. Hover view shows college readiness metrics.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C72E7A03-0EA9-BD1B-6702-76F4112C9C7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4399" y="3311074"/>
            <a:ext cx="42062399" cy="649922"/>
          </a:xfrm>
        </p:spPr>
        <p:txBody>
          <a:bodyPr/>
          <a:lstStyle/>
          <a:p>
            <a:pPr algn="ctr"/>
            <a:r>
              <a:rPr lang="en-US" dirty="0"/>
              <a:t>Department of Computer Science, College Science and Engineering, Texas State University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ED0F68D-0EB7-2DFA-BEEF-943624199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399" y="2258284"/>
            <a:ext cx="42062399" cy="928716"/>
          </a:xfrm>
        </p:spPr>
        <p:txBody>
          <a:bodyPr/>
          <a:lstStyle/>
          <a:p>
            <a:pPr algn="ctr"/>
            <a:r>
              <a:rPr lang="en-US" dirty="0"/>
              <a:t>Chloe Jones, Stephen Cox, Vaishnavi Sharma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AF31D3-1B2C-9AE9-047F-D85C2DF88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548806"/>
            <a:ext cx="42062399" cy="174171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dirty="0"/>
              <a:t>Identifying High-Performing Texas Counties for Strategic Enrollment Growth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30AE4E-436F-8BB6-1E47-1F5CDAD3B782}"/>
              </a:ext>
            </a:extLst>
          </p:cNvPr>
          <p:cNvSpPr txBox="1"/>
          <p:nvPr/>
        </p:nvSpPr>
        <p:spPr>
          <a:xfrm>
            <a:off x="914399" y="5923724"/>
            <a:ext cx="12043410" cy="79616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defRPr sz="4200" b="1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Problem Statement</a:t>
            </a:r>
          </a:p>
          <a:p>
            <a:pPr>
              <a:defRPr sz="4200" b="1">
                <a:latin typeface="Aptos"/>
                <a:ea typeface="Aptos"/>
                <a:cs typeface="Aptos"/>
                <a:sym typeface="Aptos"/>
              </a:defRPr>
            </a:pPr>
            <a:endParaRPr lang="en-US" sz="2800" dirty="0">
              <a:effectLst/>
            </a:endParaRPr>
          </a:p>
          <a:p>
            <a:pPr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As Texas State University pursues Research 1 (R1) classification and works to elevate its academic prestige, attracting high-performing students becomes increasingly critical to institutional advancement. TXST faces intensifying competition from established peer institutions such as UT Austin, Texas A&amp;M, and Texas Tech for top-tier students across Texas. This project analyzes the spatial distribution of college-ready students using county-level SAT/ACT data to identify strategic recruitment opportunities. By mapping TXST's competitive positioning and market share across Texas regions, we reveal high-opportunity counties with strong student performance but limited TXST presence, providing data-driven recommendations to support strategic enrollment growth.</a:t>
            </a:r>
            <a:endParaRPr lang="en-US" b="1" dirty="0"/>
          </a:p>
          <a:p>
            <a:endParaRPr lang="en-US" sz="2800" b="1" dirty="0">
              <a:effectLst/>
            </a:endParaRPr>
          </a:p>
          <a:p>
            <a:pPr>
              <a:defRPr sz="2800" b="1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Research Statement</a:t>
            </a:r>
          </a:p>
          <a:p>
            <a:pPr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What is the spatial distribution of college ready students across Texas, and which counties represent the highest-opportunity markets for TXST recruitment given competitive enrollment patterns?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DAC365-7C51-C8E4-2D96-252FF1258841}"/>
              </a:ext>
            </a:extLst>
          </p:cNvPr>
          <p:cNvSpPr txBox="1"/>
          <p:nvPr/>
        </p:nvSpPr>
        <p:spPr>
          <a:xfrm>
            <a:off x="895394" y="14009407"/>
            <a:ext cx="12056914" cy="619883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defRPr sz="4200" b="1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Data Sources </a:t>
            </a:r>
          </a:p>
          <a:p>
            <a:pPr>
              <a:defRPr sz="2800" b="1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THECB High School Graduate Enrollment Data</a:t>
            </a:r>
          </a:p>
          <a:p>
            <a:pPr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County-level enrollment data from the Texas Higher Education Coordinating Board tracking where 36,175 rows containing 951,423 Texas high school graduates enrolled across 325+ institutions and from 2019-2024. Includes enrollment counts by county, district, and institution.</a:t>
            </a:r>
          </a:p>
          <a:p>
            <a:pPr>
              <a:spcBef>
                <a:spcPts val="1200"/>
              </a:spcBef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>
              <a:defRPr sz="2800" b="1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TEA College Readiness Data</a:t>
            </a:r>
          </a:p>
          <a:p>
            <a:pPr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2024 district-level academic performance data from the Texas Education Agency tracking SAT/ACT outcomes across 1,058 school districts in 252 Texas counties. Metrics include test participation rates (70.3% average), college readiness benchmarks (16.5% average achieving critical scores), and TSI dual-subject readiness (26.7% average meeting standards in both Math and Reading/Writing).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C8B434-230F-6D88-C328-D7641E3B0034}"/>
              </a:ext>
            </a:extLst>
          </p:cNvPr>
          <p:cNvSpPr txBox="1"/>
          <p:nvPr/>
        </p:nvSpPr>
        <p:spPr>
          <a:xfrm>
            <a:off x="13106187" y="5908883"/>
            <a:ext cx="10777166" cy="149704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defRPr sz="4200" b="1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Methods</a:t>
            </a:r>
          </a:p>
          <a:p>
            <a:pPr>
              <a:lnSpc>
                <a:spcPct val="150000"/>
              </a:lnSpc>
              <a:defRPr sz="2800" b="1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Data Processing</a:t>
            </a:r>
          </a:p>
          <a:p>
            <a:pPr indent="-280735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Cleaned and standardized county names across THECB enrollment and TEA SAT/ACT datasets</a:t>
            </a:r>
          </a:p>
          <a:p>
            <a:pPr indent="-280735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Removed non-college categories from enrollment data</a:t>
            </a:r>
          </a:p>
          <a:p>
            <a:pPr indent="-280735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Aggregated district-level SAT/ACT data to county level using mean performance rates</a:t>
            </a:r>
          </a:p>
          <a:p>
            <a:pPr indent="-280735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Calculated market share for TXST and seven competitor institutions per county</a:t>
            </a:r>
          </a:p>
          <a:p>
            <a:pPr indent="-280735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Merged enrollment and academic performance data on county</a:t>
            </a:r>
          </a:p>
          <a:p>
            <a:pPr>
              <a:buSzPct val="100000"/>
              <a:defRPr sz="2800">
                <a:latin typeface="Aptos"/>
                <a:ea typeface="Aptos"/>
                <a:cs typeface="Aptos"/>
                <a:sym typeface="Aptos"/>
              </a:defRPr>
            </a:pPr>
            <a:endParaRPr lang="en-US" dirty="0"/>
          </a:p>
          <a:p>
            <a:pPr>
              <a:defRPr sz="2800" b="1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Opportunity Scoring Two composite scoring approaches developed:</a:t>
            </a:r>
          </a:p>
          <a:p>
            <a:pPr indent="-374314">
              <a:buSzPct val="100000"/>
              <a:buAutoNum type="arabicPeriod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Enrollment-Only: Market Size (50%), Growth Potential to 17% target (30%), Breakable Market (20%)</a:t>
            </a:r>
          </a:p>
          <a:p>
            <a:pPr indent="-374314">
              <a:buSzPct val="100000"/>
              <a:buAutoNum type="arabicPeriod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Combined Academic + Enrollment: Academic Performance (40%), Market Size (30%), TXST Gap (20%), Test Participation (10%)</a:t>
            </a:r>
          </a:p>
          <a:p>
            <a:pPr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All components normalized to 0-100 scale</a:t>
            </a:r>
          </a:p>
          <a:p>
            <a:pPr>
              <a:defRPr sz="2800">
                <a:latin typeface="Aptos"/>
                <a:ea typeface="Aptos"/>
                <a:cs typeface="Aptos"/>
                <a:sym typeface="Aptos"/>
              </a:defRPr>
            </a:pPr>
            <a:endParaRPr lang="en-US" dirty="0"/>
          </a:p>
          <a:p>
            <a:pPr>
              <a:defRPr sz="2800" b="1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Tier Classification Counties classified into five strategic tiers based on:</a:t>
            </a:r>
          </a:p>
          <a:p>
            <a:pPr indent="-228600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High Academic Performance (College Ready ≥25%)</a:t>
            </a:r>
          </a:p>
          <a:p>
            <a:pPr indent="-228600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Large Market (&gt;2,000 students)</a:t>
            </a:r>
          </a:p>
          <a:p>
            <a:pPr indent="-228600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Low TXST Presence (&lt;10% share)</a:t>
            </a:r>
          </a:p>
          <a:p>
            <a:pPr>
              <a:buSzPct val="100000"/>
              <a:defRPr sz="2800">
                <a:latin typeface="Aptos"/>
                <a:ea typeface="Aptos"/>
                <a:cs typeface="Aptos"/>
                <a:sym typeface="Aptos"/>
              </a:defRPr>
            </a:pPr>
            <a:endParaRPr lang="en-US" dirty="0"/>
          </a:p>
          <a:p>
            <a:pPr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Tier 1 (Prime): All three criteria met Tier 2: High academics + Low TXST Tier 3: High academics (TXST present) Tier 4: Large market + Low TXST Tier 5: Maintain/Monitor</a:t>
            </a:r>
          </a:p>
          <a:p>
            <a:pPr>
              <a:spcBef>
                <a:spcPts val="1200"/>
              </a:spcBef>
              <a:defRPr sz="2800" b="1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Visualization</a:t>
            </a:r>
          </a:p>
          <a:p>
            <a:pPr indent="-228600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 Interactive choropleth maps created using </a:t>
            </a:r>
            <a:r>
              <a:rPr lang="en-US" dirty="0" err="1"/>
              <a:t>Plotly</a:t>
            </a:r>
            <a:r>
              <a:rPr lang="en-US" dirty="0"/>
              <a:t> and Census TIGER/Line 2020 shapefiles, displaying county-level academic performance, enrollment patterns, and strategic recruitment priorities.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F6D641-2B7E-38AE-B190-C530A596DDD7}"/>
              </a:ext>
            </a:extLst>
          </p:cNvPr>
          <p:cNvSpPr txBox="1"/>
          <p:nvPr/>
        </p:nvSpPr>
        <p:spPr>
          <a:xfrm>
            <a:off x="24031731" y="5923720"/>
            <a:ext cx="9390521" cy="10152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defRPr sz="4200" b="1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Findings</a:t>
            </a:r>
          </a:p>
          <a:p>
            <a:pPr marL="280735" indent="-280735">
              <a:spcBef>
                <a:spcPts val="1200"/>
              </a:spcBef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TXST currently has strong representation in Central Texas but remains underrepresented in several high-performing, high-volume counties across North and West Texas.</a:t>
            </a:r>
          </a:p>
          <a:p>
            <a:pPr marL="280735" indent="-280735">
              <a:spcBef>
                <a:spcPts val="1200"/>
              </a:spcBef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Prime and strong-opportunity counties demonstrate significantly higher college readiness rates than TXST-dominant regions, suggesting missed recruitment potential among academically prepared students.</a:t>
            </a:r>
          </a:p>
          <a:p>
            <a:pPr marL="280735" indent="-280735">
              <a:spcBef>
                <a:spcPts val="1200"/>
              </a:spcBef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Large suburban counties such as Collin and Denton contain substantial student markets with low TXST market share, representing the greatest potential enrollment growth.</a:t>
            </a:r>
          </a:p>
          <a:p>
            <a:pPr marL="280735" indent="-280735">
              <a:spcBef>
                <a:spcPts val="1200"/>
              </a:spcBef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Many high-readiness counties with low TXST presence are currently dominated by competing institutions, indicating strong but penetrable recruitment pipelines.</a:t>
            </a:r>
          </a:p>
          <a:p>
            <a:pPr marL="280735" indent="-280735">
              <a:spcBef>
                <a:spcPts val="1200"/>
              </a:spcBef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Rural counties with smaller markets but high readiness rates provide targeted niche recruitment opportunities with relatively low competition.</a:t>
            </a:r>
          </a:p>
          <a:p>
            <a:pPr marL="280735" indent="-280735">
              <a:spcBef>
                <a:spcPts val="1200"/>
              </a:spcBef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Overall, recruitment opportunities are not evenly distributed, with the highest-impact gains concentrated in a small number of strategically important counties.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85A751-F0C6-70B4-86D0-B98D7A2755C8}"/>
              </a:ext>
            </a:extLst>
          </p:cNvPr>
          <p:cNvSpPr txBox="1"/>
          <p:nvPr/>
        </p:nvSpPr>
        <p:spPr>
          <a:xfrm>
            <a:off x="33570628" y="5923721"/>
            <a:ext cx="9390520" cy="92537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defRPr sz="4200" b="1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Results </a:t>
            </a:r>
          </a:p>
          <a:p>
            <a:pPr marL="228600" indent="-228600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THECB enrollment data and SAT/ACT readiness data were merged to create a combined dataset covering 265 Texas counties, with 229 counties containing both enrollment and academic readiness metrics.</a:t>
            </a:r>
          </a:p>
          <a:p>
            <a:pPr marL="228600" indent="-228600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Counties were classified into five strategic recruitment tiers based on college readiness, total student market, and Texas State (TXST) market share.</a:t>
            </a:r>
          </a:p>
          <a:p>
            <a:pPr marL="228600" indent="-228600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6 Tier 1 (prime target) and 20 Tier 2 (strong opportunity) counties were identified as high-growth regions where academic performance is strong but TXST presence is low.</a:t>
            </a:r>
          </a:p>
          <a:p>
            <a:pPr marL="228600" indent="-228600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Tier 1 counties alone represent a potential market of 85,560 students, with projected growth of +11,017 TXST students if market share increased to 15%.</a:t>
            </a:r>
          </a:p>
          <a:p>
            <a:pPr marL="228600" indent="-228600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Prime target counties show significantly higher academic readiness (~29.9%) compared to the statewide average (15.6%), indicating strong recruitment alignment.</a:t>
            </a:r>
          </a:p>
          <a:p>
            <a:pPr marL="228600" indent="-228600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Overall, results highlight geographically concentrated regions where targeted recruitment could substantially increase TXST enrollment.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F90DED-94C5-A36C-48A4-ED93F0AE911B}"/>
              </a:ext>
            </a:extLst>
          </p:cNvPr>
          <p:cNvSpPr txBox="1"/>
          <p:nvPr/>
        </p:nvSpPr>
        <p:spPr>
          <a:xfrm>
            <a:off x="33570628" y="15289849"/>
            <a:ext cx="9390520" cy="773240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defRPr sz="4200" b="1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Implications </a:t>
            </a:r>
          </a:p>
          <a:p>
            <a:pPr marL="280735" indent="-280735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Targeted recruitment in Tier 1 counties could significantly increase TXST applications/ enrollment quality, with potential growth of over 11,000 students if market share improves.</a:t>
            </a:r>
          </a:p>
          <a:p>
            <a:pPr marL="280735" indent="-280735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Expanding outreach in high-readiness counties may improve academic profile and incoming student preparedness.</a:t>
            </a:r>
          </a:p>
          <a:p>
            <a:pPr marL="280735" indent="-280735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Increased presence in large suburban counties (e.g., Collin, Denton) could strengthen TXST’s competitiveness against dominant institutions.</a:t>
            </a:r>
          </a:p>
          <a:p>
            <a:pPr marL="280735" indent="-280735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Data-driven geographic targeting allows recruitment resources to be focused on high-impact regions rather than evenly distributed statewide.</a:t>
            </a:r>
          </a:p>
          <a:p>
            <a:pPr marL="280735" indent="-280735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Strengthening pipelines in underrepresented but high-performing counties may support long-term enrollment growth and institutional visibility.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680652-BA66-9794-EC7B-4675995960B0}"/>
              </a:ext>
            </a:extLst>
          </p:cNvPr>
          <p:cNvSpPr txBox="1"/>
          <p:nvPr/>
        </p:nvSpPr>
        <p:spPr>
          <a:xfrm>
            <a:off x="33570624" y="23134667"/>
            <a:ext cx="9390522" cy="52583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defRPr sz="4200" b="1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Reference/Data Cite</a:t>
            </a:r>
          </a:p>
          <a:p>
            <a:pPr marL="280735" indent="-280735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Texas Higher Education Coordinating Board. "High School Graduate College Enrollment Data, 2019-2024." Dataset. Accessed February 2025. https://</a:t>
            </a:r>
            <a:r>
              <a:rPr lang="en-US" dirty="0" err="1"/>
              <a:t>www.highered.texas.gov</a:t>
            </a:r>
            <a:r>
              <a:rPr lang="en-US" dirty="0"/>
              <a:t>/.</a:t>
            </a:r>
          </a:p>
          <a:p>
            <a:pPr marL="280735" indent="-280735">
              <a:buSzPct val="100000"/>
              <a:buChar char="•"/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Texas Education Agency. "District-Level SAT/ACT Performance Data, 2019-2024."  Dataset. Accessed February 2025. https://</a:t>
            </a:r>
            <a:r>
              <a:rPr lang="en-US" dirty="0" err="1"/>
              <a:t>tea.texas.gov</a:t>
            </a:r>
            <a:r>
              <a:rPr lang="en-US" dirty="0"/>
              <a:t>/.</a:t>
            </a:r>
          </a:p>
          <a:p>
            <a:pPr>
              <a:defRPr sz="2800">
                <a:latin typeface="Aptos"/>
                <a:ea typeface="Aptos"/>
                <a:cs typeface="Aptos"/>
                <a:sym typeface="Aptos"/>
              </a:defRPr>
            </a:pPr>
            <a:r>
              <a:rPr lang="en-US" dirty="0"/>
              <a:t>AI Disclosure: Poster content and analysis code developed with assistance from Claude (Anthropic). All outputs validated by authors.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5015BAFA-1713-5B2E-F633-71CCBD81748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14399" y="30490699"/>
            <a:ext cx="12030636" cy="1727289"/>
          </a:xfrm>
        </p:spPr>
        <p:txBody>
          <a:bodyPr/>
          <a:lstStyle/>
          <a:p>
            <a:r>
              <a:rPr lang="en-US" sz="2200" dirty="0"/>
              <a:t>Recruitment opportunity map, recruitment opportunity score based off of </a:t>
            </a:r>
            <a:r>
              <a:rPr lang="en-US" sz="2200" dirty="0" err="1"/>
              <a:t>Opportunity_Score</a:t>
            </a:r>
            <a:r>
              <a:rPr lang="en-US" sz="2200" dirty="0"/>
              <a:t> = (</a:t>
            </a:r>
            <a:r>
              <a:rPr lang="en-US" sz="2200" dirty="0" err="1"/>
              <a:t>Market_Size_Score</a:t>
            </a:r>
            <a:r>
              <a:rPr lang="en-US" sz="2200" dirty="0"/>
              <a:t> × 0.50) + (</a:t>
            </a:r>
            <a:r>
              <a:rPr lang="en-US" sz="2200" dirty="0" err="1"/>
              <a:t>Growth_Potential</a:t>
            </a:r>
            <a:r>
              <a:rPr lang="en-US" sz="2200" dirty="0"/>
              <a:t> × 0.30) + (</a:t>
            </a:r>
            <a:r>
              <a:rPr lang="en-US" sz="2200" dirty="0" err="1"/>
              <a:t>Breakable_Market</a:t>
            </a:r>
            <a:r>
              <a:rPr lang="en-US" sz="2200" dirty="0"/>
              <a:t> × 0.20)</a:t>
            </a:r>
            <a:br>
              <a:rPr lang="en-US" sz="2200" dirty="0"/>
            </a:br>
            <a:r>
              <a:rPr lang="en-US" sz="2200" dirty="0" err="1"/>
              <a:t>Market_Size_Score</a:t>
            </a:r>
            <a:r>
              <a:rPr lang="en-US" sz="2200" dirty="0"/>
              <a:t> is the number of students that have graduated from that county from 2019-2024, </a:t>
            </a:r>
            <a:r>
              <a:rPr lang="en-US" sz="2200" dirty="0" err="1"/>
              <a:t>Growth_Potential</a:t>
            </a:r>
            <a:r>
              <a:rPr lang="en-US" sz="2200" dirty="0"/>
              <a:t> Gap between TXST's current share and a </a:t>
            </a:r>
            <a:r>
              <a:rPr lang="en-US" sz="2200" b="1" dirty="0"/>
              <a:t>target share of 17%</a:t>
            </a:r>
            <a:r>
              <a:rPr lang="en-US" sz="2200" dirty="0"/>
              <a:t>, </a:t>
            </a:r>
            <a:r>
              <a:rPr lang="en-US" sz="2200" dirty="0" err="1"/>
              <a:t>Breakable_Market</a:t>
            </a:r>
            <a:r>
              <a:rPr lang="en-US" sz="2200" dirty="0"/>
              <a:t> is the total market percentage minus the dominant school.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5BBFE843-3C5F-A3EC-F909-6F9B696C552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4031727" y="22213300"/>
            <a:ext cx="9390522" cy="1410500"/>
          </a:xfrm>
        </p:spPr>
        <p:txBody>
          <a:bodyPr/>
          <a:lstStyle/>
          <a:p>
            <a:r>
              <a:rPr lang="en-US" sz="2400" dirty="0"/>
              <a:t>Texas County Dominance by University" Shows which university enrolls the most graduates from each county. Colors represent different institutions and reveal geographic recruitment territories across Texas.</a:t>
            </a:r>
          </a:p>
        </p:txBody>
      </p:sp>
      <p:pic>
        <p:nvPicPr>
          <p:cNvPr id="4" name="Screenshot 2026-02-10 at 10.44.56 PM.png" descr="Screenshot 2026-02-10 at 10.44.56 PM.png">
            <a:extLst>
              <a:ext uri="{FF2B5EF4-FFF2-40B4-BE49-F238E27FC236}">
                <a16:creationId xmlns:a16="http://schemas.microsoft.com/office/drawing/2014/main" id="{0A20218D-2931-D510-D99F-D8F71FA58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1727" y="23706513"/>
            <a:ext cx="9390521" cy="60541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Screenshot 2026-02-10 at 12.32.03 AM.png" descr="Screenshot 2026-02-10 at 12.32.03 AM.png">
            <a:extLst>
              <a:ext uri="{FF2B5EF4-FFF2-40B4-BE49-F238E27FC236}">
                <a16:creationId xmlns:a16="http://schemas.microsoft.com/office/drawing/2014/main" id="{569B8E0C-2016-D203-D6EC-064C2DE9C17B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4"/>
          <a:stretch>
            <a:fillRect/>
          </a:stretch>
        </p:blipFill>
        <p:spPr>
          <a:xfrm>
            <a:off x="3129851" y="24767629"/>
            <a:ext cx="7339101" cy="5656271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6" name="Screenshot 2026-02-10 at 12.34.27 AM.png" descr="Screenshot 2026-02-10 at 12.34.27 AM.png">
            <a:extLst>
              <a:ext uri="{FF2B5EF4-FFF2-40B4-BE49-F238E27FC236}">
                <a16:creationId xmlns:a16="http://schemas.microsoft.com/office/drawing/2014/main" id="{434E3871-A692-4299-4E70-430449889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90386" y="16146414"/>
            <a:ext cx="6273209" cy="59968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Screenshot 2026-02-10 at 1.01.38 PM.png" descr="Screenshot 2026-02-10 at 1.01.38 PM.png">
            <a:extLst>
              <a:ext uri="{FF2B5EF4-FFF2-40B4-BE49-F238E27FC236}">
                <a16:creationId xmlns:a16="http://schemas.microsoft.com/office/drawing/2014/main" id="{10A8EAAE-1277-F4E2-ED21-D4B57C1127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24611" y="26374364"/>
            <a:ext cx="7359607" cy="52357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Screenshot 2026-02-10 at 12.56.03 PM.png" descr="Screenshot 2026-02-10 at 12.56.03 PM.png">
            <a:extLst>
              <a:ext uri="{FF2B5EF4-FFF2-40B4-BE49-F238E27FC236}">
                <a16:creationId xmlns:a16="http://schemas.microsoft.com/office/drawing/2014/main" id="{6AD98971-5931-ACDB-B79F-FACE25AB56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21192" y="20985727"/>
            <a:ext cx="7339101" cy="5276146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652B820-8BD6-08CB-0EC0-3EE3DB056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009171"/>
              </p:ext>
            </p:extLst>
          </p:nvPr>
        </p:nvGraphicFramePr>
        <p:xfrm>
          <a:off x="895394" y="20292833"/>
          <a:ext cx="12056914" cy="2377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56635">
                  <a:extLst>
                    <a:ext uri="{9D8B030D-6E8A-4147-A177-3AD203B41FA5}">
                      <a16:colId xmlns:a16="http://schemas.microsoft.com/office/drawing/2014/main" val="2003952061"/>
                    </a:ext>
                  </a:extLst>
                </a:gridCol>
                <a:gridCol w="1090580">
                  <a:extLst>
                    <a:ext uri="{9D8B030D-6E8A-4147-A177-3AD203B41FA5}">
                      <a16:colId xmlns:a16="http://schemas.microsoft.com/office/drawing/2014/main" val="2203586355"/>
                    </a:ext>
                  </a:extLst>
                </a:gridCol>
                <a:gridCol w="8609699">
                  <a:extLst>
                    <a:ext uri="{9D8B030D-6E8A-4147-A177-3AD203B41FA5}">
                      <a16:colId xmlns:a16="http://schemas.microsoft.com/office/drawing/2014/main" val="2689923422"/>
                    </a:ext>
                  </a:extLst>
                </a:gridCol>
              </a:tblGrid>
              <a:tr h="204486">
                <a:tc>
                  <a:txBody>
                    <a:bodyPr/>
                    <a:lstStyle/>
                    <a:p>
                      <a:r>
                        <a:rPr lang="en-US" sz="20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Formula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18872"/>
                  </a:ext>
                </a:extLst>
              </a:tr>
              <a:tr h="204486">
                <a:tc>
                  <a:txBody>
                    <a:bodyPr/>
                    <a:lstStyle/>
                    <a:p>
                      <a:r>
                        <a:rPr lang="en-US" sz="2000" dirty="0"/>
                        <a:t>Academic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(College Ready Rate ÷ 50) ×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691157"/>
                  </a:ext>
                </a:extLst>
              </a:tr>
              <a:tr h="204486">
                <a:tc>
                  <a:txBody>
                    <a:bodyPr/>
                    <a:lstStyle/>
                    <a:p>
                      <a:r>
                        <a:rPr lang="en-US" sz="2000" dirty="0"/>
                        <a:t>Market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[In(1 + Total Students) = In (1 + Max Students)] ×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883894"/>
                  </a:ext>
                </a:extLst>
              </a:tr>
              <a:tr h="204486">
                <a:tc>
                  <a:txBody>
                    <a:bodyPr/>
                    <a:lstStyle/>
                    <a:p>
                      <a:r>
                        <a:rPr lang="en-US" sz="2000" dirty="0"/>
                        <a:t>TXST Gap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100 - TXST Market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700732"/>
                  </a:ext>
                </a:extLst>
              </a:tr>
              <a:tr h="357851">
                <a:tc>
                  <a:txBody>
                    <a:bodyPr/>
                    <a:lstStyle/>
                    <a:p>
                      <a:r>
                        <a:rPr lang="en-US" sz="2000" dirty="0"/>
                        <a:t>Participation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SAT/ACT Participation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209247"/>
                  </a:ext>
                </a:extLst>
              </a:tr>
              <a:tr h="239197">
                <a:tc>
                  <a:txBody>
                    <a:bodyPr/>
                    <a:lstStyle/>
                    <a:p>
                      <a:r>
                        <a:rPr lang="en-US" sz="2000" b="1" dirty="0"/>
                        <a:t>FINAL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(Academic × 0.40) + (Market × 0.30) + (Gap × 0.20) + (Participation × 0.10)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08895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BF1FF8A-B086-C057-2D44-A786BA3C3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500200"/>
              </p:ext>
            </p:extLst>
          </p:nvPr>
        </p:nvGraphicFramePr>
        <p:xfrm>
          <a:off x="895394" y="22728351"/>
          <a:ext cx="12049641" cy="1981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67759">
                  <a:extLst>
                    <a:ext uri="{9D8B030D-6E8A-4147-A177-3AD203B41FA5}">
                      <a16:colId xmlns:a16="http://schemas.microsoft.com/office/drawing/2014/main" val="2173045098"/>
                    </a:ext>
                  </a:extLst>
                </a:gridCol>
                <a:gridCol w="1075765">
                  <a:extLst>
                    <a:ext uri="{9D8B030D-6E8A-4147-A177-3AD203B41FA5}">
                      <a16:colId xmlns:a16="http://schemas.microsoft.com/office/drawing/2014/main" val="1230632192"/>
                    </a:ext>
                  </a:extLst>
                </a:gridCol>
                <a:gridCol w="8606117">
                  <a:extLst>
                    <a:ext uri="{9D8B030D-6E8A-4147-A177-3AD203B41FA5}">
                      <a16:colId xmlns:a16="http://schemas.microsoft.com/office/drawing/2014/main" val="2252621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Formula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681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Market Size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[In(1 + Total Students) = In (1 + Max Students)] ×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360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Growth Potential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[(max(0, 17% - TXST Share)) + 17%] ×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194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Breakable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100 - Dominant School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439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FINAL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(Market × 0.50) + (Growth × 0.30) + (Breakable × 0.20)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34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805161"/>
      </p:ext>
    </p:extLst>
  </p:cSld>
  <p:clrMapOvr>
    <a:masterClrMapping/>
  </p:clrMapOvr>
</p:sld>
</file>

<file path=ppt/theme/theme1.xml><?xml version="1.0" encoding="utf-8"?>
<a:theme xmlns:a="http://schemas.openxmlformats.org/drawingml/2006/main" name="Research Poster">
  <a:themeElements>
    <a:clrScheme name="TXST Dark">
      <a:dk1>
        <a:srgbClr val="363434"/>
      </a:dk1>
      <a:lt1>
        <a:srgbClr val="FFFFFF"/>
      </a:lt1>
      <a:dk2>
        <a:srgbClr val="501214"/>
      </a:dk2>
      <a:lt2>
        <a:srgbClr val="F5F1EE"/>
      </a:lt2>
      <a:accent1>
        <a:srgbClr val="D7BD8A"/>
      </a:accent1>
      <a:accent2>
        <a:srgbClr val="EB2E47"/>
      </a:accent2>
      <a:accent3>
        <a:srgbClr val="6EA095"/>
      </a:accent3>
      <a:accent4>
        <a:srgbClr val="EBBA45"/>
      </a:accent4>
      <a:accent5>
        <a:srgbClr val="EA664D"/>
      </a:accent5>
      <a:accent6>
        <a:srgbClr val="AC9155"/>
      </a:accent6>
      <a:hlink>
        <a:srgbClr val="007096"/>
      </a:hlink>
      <a:folHlink>
        <a:srgbClr val="266724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search Poster Template 202506" id="{AFA5CD41-DA88-794A-94A0-D0818E14A474}" vid="{7880971C-7176-9C45-A40B-E98BE3FDE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Research Poster</Template>
  <TotalTime>89</TotalTime>
  <Words>1404</Words>
  <Application>Microsoft Macintosh PowerPoint</Application>
  <PresentationFormat>Custom</PresentationFormat>
  <Paragraphs>99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 Display</vt:lpstr>
      <vt:lpstr>Arial</vt:lpstr>
      <vt:lpstr>Calibri</vt:lpstr>
      <vt:lpstr>Research Poster</vt:lpstr>
      <vt:lpstr>Identifying High-Performing Texas Counties for Strategic Enrollment Growth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Sharma, Nav</dc:creator>
  <cp:lastModifiedBy>Sharma, Nav</cp:lastModifiedBy>
  <cp:revision>4</cp:revision>
  <dcterms:created xsi:type="dcterms:W3CDTF">2026-02-12T01:35:32Z</dcterms:created>
  <dcterms:modified xsi:type="dcterms:W3CDTF">2026-02-12T04:58:25Z</dcterms:modified>
</cp:coreProperties>
</file>