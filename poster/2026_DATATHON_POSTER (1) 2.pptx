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438912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363434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CC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F0E7D9"/>
          </a:solidFill>
        </a:fill>
      </a:tcStyle>
    </a:wholeTbl>
    <a:band2H>
      <a:tcTxStyle b="def" i="def"/>
      <a:tcStyle>
        <a:tcBdr/>
        <a:fill>
          <a:solidFill>
            <a:srgbClr val="F8F4ED"/>
          </a:solidFill>
        </a:fill>
      </a:tcStyle>
    </a:band2H>
    <a:firstCol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381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381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D4DFDC"/>
          </a:solidFill>
        </a:fill>
      </a:tcStyle>
    </a:wholeTbl>
    <a:band2H>
      <a:tcTxStyle b="def" i="def"/>
      <a:tcStyle>
        <a:tcBdr/>
        <a:fill>
          <a:solidFill>
            <a:srgbClr val="EAF0EE"/>
          </a:solidFill>
        </a:fill>
      </a:tcStyle>
    </a:band2H>
    <a:firstCol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381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381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E2DBD0"/>
          </a:solidFill>
        </a:fill>
      </a:tcStyle>
    </a:wholeTbl>
    <a:band2H>
      <a:tcTxStyle b="def" i="def"/>
      <a:tcStyle>
        <a:tcBdr/>
        <a:fill>
          <a:solidFill>
            <a:srgbClr val="F1EEE9"/>
          </a:solidFill>
        </a:fill>
      </a:tcStyle>
    </a:band2H>
    <a:firstCol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381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381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501214"/>
          </a:solidFill>
        </a:fill>
      </a:tcStyle>
    </a:band2H>
    <a:firstCol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363434"/>
        </a:fontRef>
        <a:srgbClr val="36343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63434"/>
              </a:solidFill>
              <a:prstDash val="solid"/>
              <a:round/>
            </a:ln>
          </a:top>
          <a:bottom>
            <a:ln w="25400" cap="flat">
              <a:solidFill>
                <a:srgbClr val="36343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01214"/>
          </a:solidFill>
        </a:fill>
      </a:tcStyle>
    </a:lastRow>
    <a:fir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63434"/>
              </a:solidFill>
              <a:prstDash val="solid"/>
              <a:round/>
            </a:ln>
          </a:top>
          <a:bottom>
            <a:ln w="25400" cap="flat">
              <a:solidFill>
                <a:srgbClr val="36343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363434"/>
        </a:fontRef>
        <a:srgbClr val="36343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CCCCCC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firstCol>
    <a:la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38100" cap="flat">
              <a:solidFill>
                <a:srgbClr val="501214"/>
              </a:solidFill>
              <a:prstDash val="solid"/>
              <a:round/>
            </a:ln>
          </a:top>
          <a:bottom>
            <a:ln w="127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lastRow>
    <a:firstRow>
      <a:tcTxStyle b="on" i="off">
        <a:fontRef idx="major">
          <a:srgbClr val="501214"/>
        </a:fontRef>
        <a:srgbClr val="501214"/>
      </a:tcTxStyle>
      <a:tcStyle>
        <a:tcBdr>
          <a:left>
            <a:ln w="12700" cap="flat">
              <a:solidFill>
                <a:srgbClr val="501214"/>
              </a:solidFill>
              <a:prstDash val="solid"/>
              <a:round/>
            </a:ln>
          </a:left>
          <a:right>
            <a:ln w="12700" cap="flat">
              <a:solidFill>
                <a:srgbClr val="501214"/>
              </a:solidFill>
              <a:prstDash val="solid"/>
              <a:round/>
            </a:ln>
          </a:right>
          <a:top>
            <a:ln w="12700" cap="flat">
              <a:solidFill>
                <a:srgbClr val="501214"/>
              </a:solidFill>
              <a:prstDash val="solid"/>
              <a:round/>
            </a:ln>
          </a:top>
          <a:bottom>
            <a:ln w="38100" cap="flat">
              <a:solidFill>
                <a:srgbClr val="501214"/>
              </a:solidFill>
              <a:prstDash val="solid"/>
              <a:round/>
            </a:ln>
          </a:bottom>
          <a:insideH>
            <a:ln w="12700" cap="flat">
              <a:solidFill>
                <a:srgbClr val="501214"/>
              </a:solidFill>
              <a:prstDash val="solid"/>
              <a:round/>
            </a:ln>
          </a:insideH>
          <a:insideV>
            <a:ln w="12700" cap="flat">
              <a:solidFill>
                <a:srgbClr val="501214"/>
              </a:solidFill>
              <a:prstDash val="solid"/>
              <a:round/>
            </a:ln>
          </a:insideV>
        </a:tcBdr>
        <a:fill>
          <a:solidFill>
            <a:srgbClr val="36343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" name="Shape 5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st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" name="Text Placeholder 34"/>
          <p:cNvSpPr/>
          <p:nvPr>
            <p:ph type="body" sz="quarter" idx="21" hasCustomPrompt="1"/>
          </p:nvPr>
        </p:nvSpPr>
        <p:spPr>
          <a:xfrm>
            <a:off x="29220659" y="21247101"/>
            <a:ext cx="3254829" cy="4114802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16" name="Text Placeholder 34"/>
          <p:cNvSpPr/>
          <p:nvPr>
            <p:ph type="body" sz="quarter" idx="22" hasCustomPrompt="1"/>
          </p:nvPr>
        </p:nvSpPr>
        <p:spPr>
          <a:xfrm>
            <a:off x="29228597" y="16800513"/>
            <a:ext cx="3254829" cy="4114803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17" name="Text Placeholder 34"/>
          <p:cNvSpPr/>
          <p:nvPr>
            <p:ph type="body" sz="quarter" idx="23" hasCustomPrompt="1"/>
          </p:nvPr>
        </p:nvSpPr>
        <p:spPr>
          <a:xfrm>
            <a:off x="11415711" y="30191757"/>
            <a:ext cx="10058401" cy="1812246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18" name="Text Placeholder 34"/>
          <p:cNvSpPr/>
          <p:nvPr>
            <p:ph type="body" sz="quarter" idx="24" hasCustomPrompt="1"/>
          </p:nvPr>
        </p:nvSpPr>
        <p:spPr>
          <a:xfrm>
            <a:off x="11415713" y="21298582"/>
            <a:ext cx="3254829" cy="4114802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19" name="Text Placeholder 34"/>
          <p:cNvSpPr/>
          <p:nvPr>
            <p:ph type="body" sz="quarter" idx="25" hasCustomPrompt="1"/>
          </p:nvPr>
        </p:nvSpPr>
        <p:spPr>
          <a:xfrm>
            <a:off x="18204316" y="16800513"/>
            <a:ext cx="3254829" cy="4114803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20" name="Text Placeholder 29"/>
          <p:cNvSpPr/>
          <p:nvPr>
            <p:ph type="body" sz="quarter" idx="26" hasCustomPrompt="1"/>
          </p:nvPr>
        </p:nvSpPr>
        <p:spPr>
          <a:xfrm>
            <a:off x="914399" y="3546473"/>
            <a:ext cx="42062401" cy="649924"/>
          </a:xfrm>
          <a:prstGeom prst="rect">
            <a:avLst/>
          </a:prstGeom>
          <a:noFill/>
        </p:spPr>
        <p:txBody>
          <a:bodyPr anchor="t"/>
          <a:lstStyle>
            <a:lvl1pPr defTabSz="4037989">
              <a:spcBef>
                <a:spcPts val="4400"/>
              </a:spcBef>
              <a:defRPr i="0" sz="3600">
                <a:solidFill>
                  <a:srgbClr val="FFFFFF"/>
                </a:solidFill>
              </a:defRPr>
            </a:lvl1pPr>
          </a:lstStyle>
          <a:p>
            <a:pPr/>
            <a:r>
              <a:t>Department of {Insert Name Here}, College {Insert Name Here}, Texas State University</a:t>
            </a:r>
          </a:p>
        </p:txBody>
      </p:sp>
      <p:sp>
        <p:nvSpPr>
          <p:cNvPr id="21" name="Text Placeholder 27"/>
          <p:cNvSpPr/>
          <p:nvPr>
            <p:ph type="body" sz="quarter" idx="27" hasCustomPrompt="1"/>
          </p:nvPr>
        </p:nvSpPr>
        <p:spPr>
          <a:xfrm>
            <a:off x="914399" y="2537430"/>
            <a:ext cx="42062401" cy="928716"/>
          </a:xfrm>
          <a:prstGeom prst="rect">
            <a:avLst/>
          </a:prstGeom>
          <a:noFill/>
        </p:spPr>
        <p:txBody>
          <a:bodyPr anchor="t"/>
          <a:lstStyle>
            <a:lvl1pPr defTabSz="3994098">
              <a:spcBef>
                <a:spcPts val="4300"/>
              </a:spcBef>
              <a:defRPr i="0" sz="5400">
                <a:solidFill>
                  <a:srgbClr val="FFFFFF"/>
                </a:solidFill>
              </a:defRPr>
            </a:lvl1pPr>
          </a:lstStyle>
          <a:p>
            <a:pPr/>
            <a:r>
              <a:t>Presenter Name, Associates and Collaborators</a:t>
            </a:r>
          </a:p>
        </p:txBody>
      </p:sp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ost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raight Connector 10"/>
          <p:cNvSpPr/>
          <p:nvPr/>
        </p:nvSpPr>
        <p:spPr>
          <a:xfrm>
            <a:off x="-1" y="5009319"/>
            <a:ext cx="43891202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1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383329" y="28823446"/>
            <a:ext cx="9144002" cy="2053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383329" y="31367266"/>
            <a:ext cx="9593470" cy="636736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Rectangle 40"/>
          <p:cNvSpPr/>
          <p:nvPr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pPr>
          </a:p>
        </p:txBody>
      </p:sp>
      <p:pic>
        <p:nvPicPr>
          <p:cNvPr id="34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457202" y="4968754"/>
            <a:ext cx="44805601" cy="365762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" name="Text Placeholder 34"/>
          <p:cNvSpPr/>
          <p:nvPr>
            <p:ph type="body" sz="quarter" idx="21" hasCustomPrompt="1"/>
          </p:nvPr>
        </p:nvSpPr>
        <p:spPr>
          <a:xfrm>
            <a:off x="29220659" y="21247101"/>
            <a:ext cx="3254829" cy="4114802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37" name="Text Placeholder 34"/>
          <p:cNvSpPr/>
          <p:nvPr>
            <p:ph type="body" sz="quarter" idx="22" hasCustomPrompt="1"/>
          </p:nvPr>
        </p:nvSpPr>
        <p:spPr>
          <a:xfrm>
            <a:off x="29228597" y="16800513"/>
            <a:ext cx="3254829" cy="4114803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38" name="Text Placeholder 34"/>
          <p:cNvSpPr/>
          <p:nvPr>
            <p:ph type="body" sz="quarter" idx="23" hasCustomPrompt="1"/>
          </p:nvPr>
        </p:nvSpPr>
        <p:spPr>
          <a:xfrm>
            <a:off x="11415711" y="30191757"/>
            <a:ext cx="10058401" cy="1812246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39" name="Text Placeholder 34"/>
          <p:cNvSpPr/>
          <p:nvPr>
            <p:ph type="body" sz="quarter" idx="24" hasCustomPrompt="1"/>
          </p:nvPr>
        </p:nvSpPr>
        <p:spPr>
          <a:xfrm>
            <a:off x="11415713" y="21298582"/>
            <a:ext cx="3254829" cy="4114802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40" name="Text Placeholder 34"/>
          <p:cNvSpPr/>
          <p:nvPr>
            <p:ph type="body" sz="quarter" idx="25" hasCustomPrompt="1"/>
          </p:nvPr>
        </p:nvSpPr>
        <p:spPr>
          <a:xfrm>
            <a:off x="18204316" y="16800513"/>
            <a:ext cx="3254829" cy="4114803"/>
          </a:xfrm>
          <a:prstGeom prst="rect">
            <a:avLst/>
          </a:prstGeom>
        </p:spPr>
        <p:txBody>
          <a:bodyPr/>
          <a:lstStyle/>
          <a:p>
            <a:pPr/>
            <a:r>
              <a:t>This is the suggested format for captions.
Duis autem vel eum iriure dolor in hendrerit in vulputate velit esse molestie consequat.</a:t>
            </a:r>
          </a:p>
        </p:txBody>
      </p:sp>
      <p:sp>
        <p:nvSpPr>
          <p:cNvPr id="41" name="Text Placeholder 29"/>
          <p:cNvSpPr/>
          <p:nvPr>
            <p:ph type="body" sz="quarter" idx="26" hasCustomPrompt="1"/>
          </p:nvPr>
        </p:nvSpPr>
        <p:spPr>
          <a:xfrm>
            <a:off x="914399" y="3546473"/>
            <a:ext cx="42062401" cy="649924"/>
          </a:xfrm>
          <a:prstGeom prst="rect">
            <a:avLst/>
          </a:prstGeom>
          <a:noFill/>
        </p:spPr>
        <p:txBody>
          <a:bodyPr anchor="t"/>
          <a:lstStyle>
            <a:lvl1pPr defTabSz="4037989">
              <a:spcBef>
                <a:spcPts val="4400"/>
              </a:spcBef>
              <a:defRPr i="0" sz="3600"/>
            </a:lvl1pPr>
          </a:lstStyle>
          <a:p>
            <a:pPr/>
            <a:r>
              <a:t>Department of {Insert Name Here}, College {Insert Name Here}, Texas State University</a:t>
            </a:r>
          </a:p>
        </p:txBody>
      </p:sp>
      <p:sp>
        <p:nvSpPr>
          <p:cNvPr id="42" name="Text Placeholder 27"/>
          <p:cNvSpPr/>
          <p:nvPr>
            <p:ph type="body" sz="quarter" idx="27" hasCustomPrompt="1"/>
          </p:nvPr>
        </p:nvSpPr>
        <p:spPr>
          <a:xfrm>
            <a:off x="914399" y="2537430"/>
            <a:ext cx="42062401" cy="928716"/>
          </a:xfrm>
          <a:prstGeom prst="rect">
            <a:avLst/>
          </a:prstGeom>
          <a:noFill/>
        </p:spPr>
        <p:txBody>
          <a:bodyPr anchor="t"/>
          <a:lstStyle>
            <a:lvl1pPr defTabSz="3994098">
              <a:spcBef>
                <a:spcPts val="4300"/>
              </a:spcBef>
              <a:defRPr i="0" sz="5400"/>
            </a:lvl1pPr>
          </a:lstStyle>
          <a:p>
            <a:pPr/>
            <a:r>
              <a:t>Presenter Name, Associates and Collaborators</a:t>
            </a:r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50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0"/>
          <p:cNvSpPr/>
          <p:nvPr/>
        </p:nvSpPr>
        <p:spPr>
          <a:xfrm>
            <a:off x="-1" y="5009319"/>
            <a:ext cx="43891202" cy="2"/>
          </a:xfrm>
          <a:prstGeom prst="line">
            <a:avLst/>
          </a:prstGeom>
          <a:ln w="635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383329" y="28823446"/>
            <a:ext cx="9144002" cy="2053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383329" y="31367266"/>
            <a:ext cx="9593470" cy="63673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Body Level One…"/>
          <p:cNvSpPr txBox="1"/>
          <p:nvPr>
            <p:ph type="body" idx="1" hasCustomPrompt="1"/>
          </p:nvPr>
        </p:nvSpPr>
        <p:spPr>
          <a:xfrm>
            <a:off x="22417089" y="30175200"/>
            <a:ext cx="10058401" cy="18122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This is the suggested format for captions.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" name="Title Text"/>
          <p:cNvSpPr txBox="1"/>
          <p:nvPr>
            <p:ph type="title"/>
          </p:nvPr>
        </p:nvSpPr>
        <p:spPr>
          <a:xfrm>
            <a:off x="914400" y="914400"/>
            <a:ext cx="42062400" cy="1741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31181706" y="30375859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  <p:transition xmlns:p14="http://schemas.microsoft.com/office/powerpoint/2010/main" spd="med" advClick="1"/>
  <p:txStyles>
    <p:titleStyle>
      <a:lvl1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438912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400" u="none">
          <a:solidFill>
            <a:schemeClr val="accent1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0" marR="0" indent="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Tx/>
        <a:buFontTx/>
        <a:buNone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1pPr>
      <a:lvl2pPr marL="2394933" marR="0" indent="-200372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2pPr>
      <a:lvl3pPr marL="4629150" marR="0" indent="-240029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3pPr>
      <a:lvl4pPr marL="6851618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4pPr>
      <a:lvl5pPr marL="9046178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5pPr>
      <a:lvl6pPr marL="11240740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6pPr>
      <a:lvl7pPr marL="13435299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7pPr>
      <a:lvl8pPr marL="15629858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8pPr>
      <a:lvl9pPr marL="17824420" marR="0" indent="-267940" algn="l" defTabSz="4389120" rtl="0" latinLnBrk="0">
        <a:lnSpc>
          <a:spcPct val="90000"/>
        </a:lnSpc>
        <a:spcBef>
          <a:spcPts val="1800"/>
        </a:spcBef>
        <a:spcAft>
          <a:spcPts val="0"/>
        </a:spcAft>
        <a:buClrTx/>
        <a:buSzPct val="100000"/>
        <a:buFontTx/>
        <a:buChar char="•"/>
        <a:tabLst/>
        <a:defRPr b="0" baseline="0" cap="none" i="1" spc="0" strike="noStrike" sz="2100" u="none">
          <a:solidFill>
            <a:srgbClr val="363434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34"/>
          <p:cNvSpPr txBox="1"/>
          <p:nvPr>
            <p:ph type="body" sz="quarter" idx="1"/>
          </p:nvPr>
        </p:nvSpPr>
        <p:spPr>
          <a:xfrm>
            <a:off x="20558408" y="20985725"/>
            <a:ext cx="3324941" cy="5276148"/>
          </a:xfrm>
          <a:prstGeom prst="rect">
            <a:avLst/>
          </a:prstGeom>
        </p:spPr>
        <p:txBody>
          <a:bodyPr/>
          <a:lstStyle>
            <a:lvl1pPr defTabSz="3994098">
              <a:spcBef>
                <a:spcPts val="1600"/>
              </a:spcBef>
              <a:defRPr sz="2400"/>
            </a:lvl1pPr>
          </a:lstStyle>
          <a:p>
            <a:pPr/>
            <a:r>
              <a:t>TSI Readiness Performance by County - Percentage of graduates meeting Texas Success Initiative standards in both Math and Reading/Writing. Higher rates indicate students ready for college-level coursework without remediation.</a:t>
            </a:r>
          </a:p>
        </p:txBody>
      </p:sp>
      <p:sp>
        <p:nvSpPr>
          <p:cNvPr id="54" name="Text Placeholder 33"/>
          <p:cNvSpPr/>
          <p:nvPr>
            <p:ph type="body" idx="23"/>
          </p:nvPr>
        </p:nvSpPr>
        <p:spPr>
          <a:xfrm>
            <a:off x="24031725" y="29843384"/>
            <a:ext cx="9390521" cy="23746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345228">
              <a:spcBef>
                <a:spcPts val="1700"/>
              </a:spcBef>
              <a:defRPr sz="2300"/>
            </a:lvl1pPr>
          </a:lstStyle>
          <a:p>
            <a:pPr/>
            <a:r>
              <a:t>Counties classified into recruitment priority tiers based on a composite opportunity score combining academic performance (College Readiness and TSI Ready rates), market size (total graduates), current TXST market share, and test participation rates. Tier 1 (Gold) = highest priority targets with strong academics, large markets, and low TXST presence. Lower tiers indicate smaller markets or areas where TXST already has strong enrollment.</a:t>
            </a:r>
          </a:p>
        </p:txBody>
      </p:sp>
      <p:sp>
        <p:nvSpPr>
          <p:cNvPr id="55" name="Text Placeholder 32"/>
          <p:cNvSpPr/>
          <p:nvPr>
            <p:ph type="body" idx="24"/>
          </p:nvPr>
        </p:nvSpPr>
        <p:spPr>
          <a:xfrm>
            <a:off x="20558408" y="26374365"/>
            <a:ext cx="3324941" cy="52357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2400"/>
            </a:lvl1pPr>
          </a:lstStyle>
          <a:p>
            <a:pPr/>
            <a:r>
              <a:t>SAT/ACT Test Participation Rates by County - Percentage of graduates taking college entrance exams. Blue counties show high college-going culture; red counties indicate lower test-taking engagement. Hover view shows college readiness metrics.</a:t>
            </a:r>
          </a:p>
        </p:txBody>
      </p:sp>
      <p:sp>
        <p:nvSpPr>
          <p:cNvPr id="56" name="Text Placeholder 30"/>
          <p:cNvSpPr/>
          <p:nvPr>
            <p:ph type="body" idx="26"/>
          </p:nvPr>
        </p:nvSpPr>
        <p:spPr>
          <a:xfrm>
            <a:off x="914399" y="3311073"/>
            <a:ext cx="42062401" cy="6499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/>
          </a:lstStyle>
          <a:p>
            <a:pPr/>
            <a:r>
              <a:t>Department of Computer Science, College Science and Engineering, Texas State University</a:t>
            </a:r>
          </a:p>
        </p:txBody>
      </p:sp>
      <p:sp>
        <p:nvSpPr>
          <p:cNvPr id="57" name="Text Placeholder 29"/>
          <p:cNvSpPr/>
          <p:nvPr>
            <p:ph type="body" idx="27"/>
          </p:nvPr>
        </p:nvSpPr>
        <p:spPr>
          <a:xfrm>
            <a:off x="914399" y="2258284"/>
            <a:ext cx="42062401" cy="9287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/>
          </a:lstStyle>
          <a:p>
            <a:pPr/>
            <a:r>
              <a:t>Chloe Jones, Stephen Cox, Vaishnavi Sharma</a:t>
            </a:r>
          </a:p>
        </p:txBody>
      </p:sp>
      <p:sp>
        <p:nvSpPr>
          <p:cNvPr id="58" name="Title 1"/>
          <p:cNvSpPr txBox="1"/>
          <p:nvPr>
            <p:ph type="title"/>
          </p:nvPr>
        </p:nvSpPr>
        <p:spPr>
          <a:xfrm>
            <a:off x="914399" y="548806"/>
            <a:ext cx="42062401" cy="1741710"/>
          </a:xfrm>
          <a:prstGeom prst="rect">
            <a:avLst/>
          </a:prstGeom>
        </p:spPr>
        <p:txBody>
          <a:bodyPr/>
          <a:lstStyle>
            <a:lvl1pPr algn="ctr" defTabSz="4169664">
              <a:defRPr sz="9800"/>
            </a:lvl1pPr>
          </a:lstStyle>
          <a:p>
            <a:pPr/>
            <a:r>
              <a:t>Identifying High-Performing Texas Counties for Strategic Enrollment Growth</a:t>
            </a:r>
          </a:p>
        </p:txBody>
      </p:sp>
      <p:grpSp>
        <p:nvGrpSpPr>
          <p:cNvPr id="61" name="TextBox 4"/>
          <p:cNvGrpSpPr/>
          <p:nvPr/>
        </p:nvGrpSpPr>
        <p:grpSpPr>
          <a:xfrm>
            <a:off x="914398" y="5923722"/>
            <a:ext cx="12043412" cy="8067039"/>
            <a:chOff x="0" y="0"/>
            <a:chExt cx="12043411" cy="8067037"/>
          </a:xfrm>
        </p:grpSpPr>
        <p:sp>
          <p:nvSpPr>
            <p:cNvPr id="59" name="Rectangle"/>
            <p:cNvSpPr/>
            <p:nvPr/>
          </p:nvSpPr>
          <p:spPr>
            <a:xfrm>
              <a:off x="-1" y="0"/>
              <a:ext cx="12043412" cy="7961611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0" name="Problem Statement…"/>
            <p:cNvSpPr txBox="1"/>
            <p:nvPr/>
          </p:nvSpPr>
          <p:spPr>
            <a:xfrm>
              <a:off x="45718" y="0"/>
              <a:ext cx="11951973" cy="80670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Problem Statement</a:t>
              </a: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As Texas State University pursues Research 1 (R1) classification and works to elevate its academic prestige, attracting high-performing students becomes increasingly critical to institutional advancement. TXST faces intensifying competition from established peer institutions such as UT Austin, Texas A&amp;M, and Texas Tech for top-tier students across Texas. This project analyzes the spatial distribution of college-ready students using county-level SAT/ACT data to identify strategic recruitment opportunities. By mapping TXST's competitive positioning and market share across Texas regions, we reveal high-opportunity counties with strong student performance but limited TXST presence, providing data-driven recommendations to support strategic enrollment growth.</a:t>
              </a:r>
              <a:endParaRPr b="1"/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Research Statement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What is the spatial distribution of college ready students across Texas, and which counties represent the highest-opportunity markets for TXST recruitment given competitive enrollment patterns?</a:t>
              </a:r>
            </a:p>
          </p:txBody>
        </p:sp>
      </p:grpSp>
      <p:grpSp>
        <p:nvGrpSpPr>
          <p:cNvPr id="64" name="TextBox 5"/>
          <p:cNvGrpSpPr/>
          <p:nvPr/>
        </p:nvGrpSpPr>
        <p:grpSpPr>
          <a:xfrm>
            <a:off x="895393" y="14009405"/>
            <a:ext cx="12056918" cy="6238239"/>
            <a:chOff x="0" y="0"/>
            <a:chExt cx="12056916" cy="6238238"/>
          </a:xfrm>
        </p:grpSpPr>
        <p:sp>
          <p:nvSpPr>
            <p:cNvPr id="62" name="Rectangle"/>
            <p:cNvSpPr/>
            <p:nvPr/>
          </p:nvSpPr>
          <p:spPr>
            <a:xfrm>
              <a:off x="0" y="-1"/>
              <a:ext cx="12056918" cy="619883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3" name="Data Sources…"/>
            <p:cNvSpPr txBox="1"/>
            <p:nvPr/>
          </p:nvSpPr>
          <p:spPr>
            <a:xfrm>
              <a:off x="45718" y="0"/>
              <a:ext cx="11965479" cy="6238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Data Sources </a:t>
              </a: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THECB High School Graduate Enrollment Data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County-level enrollment data from the Texas Higher Education Coordinating Board tracking where 36,175 rows containing 951,423 Texas high school graduates enrolled across 325+ institutions and from 2019-2024. Includes enrollment counts by county, district, and institution.</a:t>
              </a:r>
            </a:p>
            <a:p>
              <a:pPr>
                <a:spcBef>
                  <a:spcPts val="1200"/>
                </a:spcBef>
                <a:defRPr sz="1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TEA College Readiness Data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2024 district-level academic performance data from the Texas Education Agency tracking SAT/ACT outcomes across 1,058 school districts in 252 Texas counties. Metrics include test participation rates (70.3% average), college readiness benchmarks (16.5% average achieving critical scores), and TSI dual-subject readiness (26.7% average meeting standards in both Math and Reading/Writing).</a:t>
              </a:r>
            </a:p>
          </p:txBody>
        </p:sp>
      </p:grpSp>
      <p:grpSp>
        <p:nvGrpSpPr>
          <p:cNvPr id="67" name="TextBox 6"/>
          <p:cNvGrpSpPr/>
          <p:nvPr/>
        </p:nvGrpSpPr>
        <p:grpSpPr>
          <a:xfrm>
            <a:off x="13106187" y="5908882"/>
            <a:ext cx="10777170" cy="15344139"/>
            <a:chOff x="0" y="0"/>
            <a:chExt cx="10777168" cy="15344137"/>
          </a:xfrm>
        </p:grpSpPr>
        <p:sp>
          <p:nvSpPr>
            <p:cNvPr id="65" name="Rectangle"/>
            <p:cNvSpPr/>
            <p:nvPr/>
          </p:nvSpPr>
          <p:spPr>
            <a:xfrm>
              <a:off x="-1" y="-1"/>
              <a:ext cx="10777170" cy="1497046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6" name="Methods…"/>
            <p:cNvSpPr txBox="1"/>
            <p:nvPr/>
          </p:nvSpPr>
          <p:spPr>
            <a:xfrm>
              <a:off x="45718" y="-1"/>
              <a:ext cx="10685730" cy="15344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Methods</a:t>
              </a:r>
            </a:p>
            <a:p>
              <a:pPr>
                <a:lnSpc>
                  <a:spcPct val="150000"/>
                </a:lnSpc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Data Processing</a:t>
              </a:r>
            </a:p>
            <a:p>
              <a:pPr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Cleaned and standardized county names across THECB enrollment and TEA SAT/ACT datasets</a:t>
              </a:r>
            </a:p>
            <a:p>
              <a:pPr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Removed non-college categories from enrollment data</a:t>
              </a:r>
            </a:p>
            <a:p>
              <a:pPr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Aggregated district-level SAT/ACT data to county level using mean performance rates</a:t>
              </a:r>
            </a:p>
            <a:p>
              <a:pPr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Calculated market share for TXST and seven competitor institutions per county</a:t>
              </a:r>
            </a:p>
            <a:p>
              <a:pPr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Merged enrollment and academic performance data on county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Opportunity Scoring Two composite scoring approaches developed:</a:t>
              </a:r>
            </a:p>
            <a:p>
              <a:pPr indent="-374313">
                <a:buSzPct val="100000"/>
                <a:buAutoNum type="arabicPeriod" startAt="1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Enrollment-Only: Market Size (50%), Growth Potential to 17% target (30%), Breakable Market (20%)</a:t>
              </a:r>
            </a:p>
            <a:p>
              <a:pPr indent="-374313">
                <a:buSzPct val="100000"/>
                <a:buAutoNum type="arabicPeriod" startAt="1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Combined Academic + Enrollment: Academic Performance (40%), Market Size (30%), TXST Gap (20%), Test Participation (10%)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All components normalized to 0-100 scale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Tier Classification Counties classified into five strategic tiers based on:</a:t>
              </a:r>
            </a:p>
            <a:p>
              <a:pPr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High Academic Performance (College Ready ≥25%)</a:t>
              </a:r>
            </a:p>
            <a:p>
              <a:pPr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Large Market (&gt;2,000 students)</a:t>
              </a:r>
            </a:p>
            <a:p>
              <a:pPr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Low TXST Presence (&lt;10% share)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Tier 1 (Prime): All three criteria met Tier 2: High academics + Low TXST Tier 3: High academics (TXST present) Tier 4: Large market + Low TXST Tier 5: Maintain/Monitor</a:t>
              </a:r>
            </a:p>
            <a:p>
              <a:pPr>
                <a:spcBef>
                  <a:spcPts val="1200"/>
                </a:spcBef>
                <a:defRPr b="1"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Visualization</a:t>
              </a:r>
            </a:p>
            <a:p>
              <a:pPr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 Interactive choropleth maps created using Plotly and Census TIGER/Line 2020 shapefiles, displaying county-level academic performance, enrollment patterns, and strategic recruitment priorities.</a:t>
              </a:r>
            </a:p>
          </p:txBody>
        </p:sp>
      </p:grpSp>
      <p:grpSp>
        <p:nvGrpSpPr>
          <p:cNvPr id="70" name="TextBox 7"/>
          <p:cNvGrpSpPr/>
          <p:nvPr/>
        </p:nvGrpSpPr>
        <p:grpSpPr>
          <a:xfrm>
            <a:off x="24031731" y="5923719"/>
            <a:ext cx="9390524" cy="12127305"/>
            <a:chOff x="0" y="0"/>
            <a:chExt cx="9390522" cy="12127303"/>
          </a:xfrm>
        </p:grpSpPr>
        <p:sp>
          <p:nvSpPr>
            <p:cNvPr id="68" name="Rectangle"/>
            <p:cNvSpPr/>
            <p:nvPr/>
          </p:nvSpPr>
          <p:spPr>
            <a:xfrm>
              <a:off x="0" y="-1"/>
              <a:ext cx="9390524" cy="1149772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spcBef>
                  <a:spcPts val="1200"/>
                </a:spcBef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9" name="Findings…"/>
            <p:cNvSpPr txBox="1"/>
            <p:nvPr/>
          </p:nvSpPr>
          <p:spPr>
            <a:xfrm>
              <a:off x="45718" y="0"/>
              <a:ext cx="9299086" cy="12127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Findings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TXST currently has strong representation in Central Texas but remains underrepresented in several high-performing, high-volume counties across North and West Texas.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Prime and strong-opportunity counties demonstrate significantly higher college readiness rates than TXST-dominant regions, suggesting missed recruitment potential among academically prepared students.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Large suburban counties such as Collin and Denton contain substantial student markets with low TXST market share, representing the greatest potential enrollment growth.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Many high-readiness counties with low TXST presence are currently dominated by competing institutions, indicating strong but penetrable recruitment pipelines.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Rural counties with smaller markets but high readiness rates provide targeted niche recruitment opportunities with relatively low competition.</a:t>
              </a:r>
            </a:p>
            <a:p>
              <a:pPr marL="280734" indent="-280734">
                <a:spcBef>
                  <a:spcPts val="1200"/>
                </a:spcBef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Overall, recruitment opportunities are not evenly distributed, with the highest-impact gains concentrated in a small number of strategically important counties.</a:t>
              </a:r>
            </a:p>
          </p:txBody>
        </p:sp>
      </p:grpSp>
      <p:grpSp>
        <p:nvGrpSpPr>
          <p:cNvPr id="73" name="TextBox 8"/>
          <p:cNvGrpSpPr/>
          <p:nvPr/>
        </p:nvGrpSpPr>
        <p:grpSpPr>
          <a:xfrm>
            <a:off x="33570626" y="5923719"/>
            <a:ext cx="9390524" cy="9362440"/>
            <a:chOff x="0" y="0"/>
            <a:chExt cx="9390522" cy="9362438"/>
          </a:xfrm>
        </p:grpSpPr>
        <p:sp>
          <p:nvSpPr>
            <p:cNvPr id="71" name="Rectangle"/>
            <p:cNvSpPr/>
            <p:nvPr/>
          </p:nvSpPr>
          <p:spPr>
            <a:xfrm>
              <a:off x="-1" y="-1"/>
              <a:ext cx="9390524" cy="925371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2" name="Results…"/>
            <p:cNvSpPr txBox="1"/>
            <p:nvPr/>
          </p:nvSpPr>
          <p:spPr>
            <a:xfrm>
              <a:off x="45719" y="0"/>
              <a:ext cx="9299084" cy="9362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Results 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THECB enrollment data and SAT/ACT readiness data were merged to create a combined dataset covering 265 Texas counties, with 229 counties containing both enrollment and academic readiness metrics.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Counties were classified into five strategic recruitment tiers based on college readiness, total student market, and Texas State (TXST) market share.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6 Tier 1 (prime target) and 20 Tier 2 (strong opportunity) counties were identified as high-growth regions where academic performance is strong but TXST presence is low.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Tier 1 counties alone represent a potential market of 85,560 students, with projected growth of +11,017 TXST students if market share increased to 15%.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Prime target counties show significantly higher academic readiness (~29.9%) compared to the statewide average (15.6%), indicating strong recruitment alignment.</a:t>
              </a:r>
            </a:p>
            <a:p>
              <a:pPr marL="228600" indent="-228600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Overall, results highlight geographically concentrated regions where targeted recruitment could substantially increase TXST enrollment.</a:t>
              </a:r>
            </a:p>
          </p:txBody>
        </p:sp>
      </p:grpSp>
      <p:grpSp>
        <p:nvGrpSpPr>
          <p:cNvPr id="76" name="TextBox 9"/>
          <p:cNvGrpSpPr/>
          <p:nvPr/>
        </p:nvGrpSpPr>
        <p:grpSpPr>
          <a:xfrm>
            <a:off x="33570626" y="15289849"/>
            <a:ext cx="9390524" cy="7732404"/>
            <a:chOff x="0" y="0"/>
            <a:chExt cx="9390522" cy="7732402"/>
          </a:xfrm>
        </p:grpSpPr>
        <p:sp>
          <p:nvSpPr>
            <p:cNvPr id="74" name="Rectangle"/>
            <p:cNvSpPr/>
            <p:nvPr/>
          </p:nvSpPr>
          <p:spPr>
            <a:xfrm>
              <a:off x="-1" y="-1"/>
              <a:ext cx="9390524" cy="77324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5" name="Implications…"/>
            <p:cNvSpPr txBox="1"/>
            <p:nvPr/>
          </p:nvSpPr>
          <p:spPr>
            <a:xfrm>
              <a:off x="45719" y="-1"/>
              <a:ext cx="9299084" cy="7635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Implications 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Targeted recruitment in Tier 1 counties could significantly increase TXST applications/ enrollment quality, with potential growth of over 11,000 students if market share improves.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Expanding outreach in high-readiness counties may improve academic profile and incoming student preparedness.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Increased presence in large suburban counties (e.g., Collin, Denton) could strengthen TXST’s competitiveness against dominant institutions.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Data-driven geographic targeting allows recruitment resources to be focused on high-impact regions rather than evenly distributed statewide.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Strengthening pipelines in underrepresented but high-performing counties may support long-term enrollment growth and institutional visibility.</a:t>
              </a:r>
            </a:p>
          </p:txBody>
        </p:sp>
      </p:grpSp>
      <p:grpSp>
        <p:nvGrpSpPr>
          <p:cNvPr id="79" name="TextBox 10"/>
          <p:cNvGrpSpPr/>
          <p:nvPr/>
        </p:nvGrpSpPr>
        <p:grpSpPr>
          <a:xfrm>
            <a:off x="33570622" y="23134664"/>
            <a:ext cx="9390526" cy="5258355"/>
            <a:chOff x="-1" y="-1"/>
            <a:chExt cx="9390525" cy="5258354"/>
          </a:xfrm>
        </p:grpSpPr>
        <p:sp>
          <p:nvSpPr>
            <p:cNvPr id="77" name="Rectangle"/>
            <p:cNvSpPr/>
            <p:nvPr/>
          </p:nvSpPr>
          <p:spPr>
            <a:xfrm>
              <a:off x="-2" y="-2"/>
              <a:ext cx="9390526" cy="525835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8" name="Reference/Data Cite…"/>
            <p:cNvSpPr txBox="1"/>
            <p:nvPr/>
          </p:nvSpPr>
          <p:spPr>
            <a:xfrm>
              <a:off x="45718" y="-2"/>
              <a:ext cx="9299086" cy="50444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>
                <a:defRPr b="1" sz="4200">
                  <a:latin typeface="Aptos"/>
                  <a:ea typeface="Aptos"/>
                  <a:cs typeface="Aptos"/>
                  <a:sym typeface="Aptos"/>
                </a:defRPr>
              </a:pPr>
              <a:r>
                <a:t>Reference/Data Cite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Texas Higher Education Coordinating Board. "High School Graduate College Enrollment Data, 2019-2024." Dataset. Accessed February 2025. https://www.highered.texas.gov/.</a:t>
              </a:r>
            </a:p>
            <a:p>
              <a:pPr marL="280734" indent="-280734">
                <a:buSzPct val="100000"/>
                <a:buChar char="•"/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Texas Education Agency. "District-Level SAT/ACT Performance Data, 2019-2024."  Dataset. Accessed February 2025. https://tea.texas.gov/.</a:t>
              </a:r>
            </a:p>
            <a:p>
              <a:pPr>
                <a:defRPr sz="2800">
                  <a:latin typeface="Aptos"/>
                  <a:ea typeface="Aptos"/>
                  <a:cs typeface="Aptos"/>
                  <a:sym typeface="Aptos"/>
                </a:defRPr>
              </a:pPr>
              <a:r>
                <a:t>AI Disclosure: Poster content and analysis code developed with assistance from Claude (Anthropic). All outputs validated by authors.</a:t>
              </a:r>
            </a:p>
          </p:txBody>
        </p:sp>
      </p:grpSp>
      <p:grpSp>
        <p:nvGrpSpPr>
          <p:cNvPr id="82" name="Text Placeholder 51"/>
          <p:cNvGrpSpPr/>
          <p:nvPr/>
        </p:nvGrpSpPr>
        <p:grpSpPr>
          <a:xfrm>
            <a:off x="9352456" y="25177925"/>
            <a:ext cx="3432255" cy="6474206"/>
            <a:chOff x="0" y="0"/>
            <a:chExt cx="3432254" cy="6474204"/>
          </a:xfrm>
        </p:grpSpPr>
        <p:sp>
          <p:nvSpPr>
            <p:cNvPr id="80" name="Rectangle"/>
            <p:cNvSpPr/>
            <p:nvPr/>
          </p:nvSpPr>
          <p:spPr>
            <a:xfrm>
              <a:off x="0" y="-1"/>
              <a:ext cx="3432255" cy="6474205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4389120">
                <a:lnSpc>
                  <a:spcPct val="90000"/>
                </a:lnSpc>
                <a:spcBef>
                  <a:spcPts val="1800"/>
                </a:spcBef>
                <a:defRPr i="1" sz="2100"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1" name="Recruitment opportunity map, recruitment opportunity score based off of Opportunity_Score = (Market_Size_Score × 0.50) + (Growth_Potential × 0.30) + (Breakable_Market × 0.20) Market_Size_Score is the number of students that have graduated from that count"/>
            <p:cNvSpPr txBox="1"/>
            <p:nvPr/>
          </p:nvSpPr>
          <p:spPr>
            <a:xfrm>
              <a:off x="12964" y="-1"/>
              <a:ext cx="3406169" cy="64742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rmAutofit fontScale="100000" lnSpcReduction="0"/>
            </a:bodyPr>
            <a:lstStyle/>
            <a:p>
              <a:pPr defTabSz="4389120">
                <a:lnSpc>
                  <a:spcPct val="90000"/>
                </a:lnSpc>
                <a:spcBef>
                  <a:spcPts val="1800"/>
                </a:spcBef>
                <a:defRPr i="1" sz="2200">
                  <a:latin typeface="Aptos"/>
                  <a:ea typeface="Aptos"/>
                  <a:cs typeface="Aptos"/>
                  <a:sym typeface="Aptos"/>
                </a:defRPr>
              </a:pPr>
              <a:r>
                <a:t>Recruitment opportunity map, recruitment opportunity score based off of Opportunity_Score = (Market_Size_Score × 0.50) + (Growth_Potential × 0.30) + (Breakable_Market × 0.20)</a:t>
              </a:r>
              <a:br/>
              <a:r>
                <a:t>Market_Size_Score is the number of students that have graduated from that county from 2019-2024, Growth_Potential Gap between TXST's current share and a </a:t>
              </a:r>
              <a:r>
                <a:rPr b="1"/>
                <a:t>target share of 17%</a:t>
              </a:r>
              <a:r>
                <a:t>, Breakable_Market is the total market percentage minus the dominant school.</a:t>
              </a:r>
            </a:p>
          </p:txBody>
        </p:sp>
      </p:grpSp>
      <p:sp>
        <p:nvSpPr>
          <p:cNvPr id="83" name="Text Placeholder 53"/>
          <p:cNvSpPr/>
          <p:nvPr>
            <p:ph type="body" idx="21"/>
          </p:nvPr>
        </p:nvSpPr>
        <p:spPr>
          <a:xfrm>
            <a:off x="30222711" y="17769518"/>
            <a:ext cx="3199540" cy="57268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345228">
              <a:spcBef>
                <a:spcPts val="1700"/>
              </a:spcBef>
              <a:defRPr sz="2300"/>
            </a:lvl1pPr>
          </a:lstStyle>
          <a:p>
            <a:pPr/>
            <a:r>
              <a:t>Texas County Dominance by University" Shows which university enrolls the most graduates from each county. Colors represent different institutions and reveal geographic recruitment territories across Texas.</a:t>
            </a:r>
          </a:p>
        </p:txBody>
      </p:sp>
      <p:pic>
        <p:nvPicPr>
          <p:cNvPr id="84" name="Screenshot 2026-02-10 at 10.44.56 PM.png" descr="Screenshot 2026-02-10 at 10.44.5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031725" y="23706512"/>
            <a:ext cx="9390524" cy="6054162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Screenshot 2026-02-10 at 12.32.03 AM.png" descr="Screenshot 2026-02-10 at 12.32.0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178" y="25154923"/>
            <a:ext cx="8400380" cy="647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Screenshot 2026-02-10 at 12.34.27 AM.png" descr="Screenshot 2026-02-10 at 12.34.27 A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031725" y="17744724"/>
            <a:ext cx="6042612" cy="5776459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Screenshot 2026-02-10 at 1.01.38 PM.png" descr="Screenshot 2026-02-10 at 1.01.38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124611" y="26374365"/>
            <a:ext cx="7359609" cy="5235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Screenshot 2026-02-10 at 12.56.03 PM.png" descr="Screenshot 2026-02-10 at 12.56.03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121191" y="20985725"/>
            <a:ext cx="7339102" cy="5276148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89" name="Table 12"/>
          <p:cNvGraphicFramePr/>
          <p:nvPr/>
        </p:nvGraphicFramePr>
        <p:xfrm>
          <a:off x="895393" y="20292832"/>
          <a:ext cx="12056917" cy="141499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56635"/>
                <a:gridCol w="1090580"/>
                <a:gridCol w="8609699"/>
              </a:tblGrid>
              <a:tr h="204486"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Component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Weight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Formula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04486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Academic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40%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(College Ready Rate ÷ 50) × 100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04486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Market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30%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[In(1 + Total Students) = In (1 + Max Students)] × 100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04486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TXST Gap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20%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100 - TXST Market Share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57851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Participation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10%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SAT/ACT Participation Rate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39197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FINAL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100%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(Academic × 0.40) + (Market × 0.30) + (Gap × 0.20) + (Participation × 0.10)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aphicFrame>
        <p:nvGraphicFramePr>
          <p:cNvPr id="90" name="Table 14"/>
          <p:cNvGraphicFramePr/>
          <p:nvPr/>
        </p:nvGraphicFramePr>
        <p:xfrm>
          <a:off x="895393" y="22728350"/>
          <a:ext cx="12049643" cy="18542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67759"/>
                <a:gridCol w="1075765"/>
                <a:gridCol w="8606117"/>
              </a:tblGrid>
              <a:tr h="370840"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Component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Weight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FFFFFF"/>
                          </a:solidFill>
                          <a:sym typeface="Helvetica"/>
                        </a:rPr>
                        <a:t>Formula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Market Size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50%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[In(1 + Total Students) = In (1 + Max Students)] × 100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Growth Potential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30%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[(max(0, 17% - TXST Share)) + 17%] × 100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Breakable Market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20%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363434"/>
                          </a:solidFill>
                          <a:sym typeface="Helvetica"/>
                        </a:rPr>
                        <a:t>100 - Dominant School Share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FINAL SCORE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100%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438912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olidFill>
                            <a:srgbClr val="363434"/>
                          </a:solidFill>
                          <a:sym typeface="Helvetica"/>
                        </a:rPr>
                        <a:t>(Market × 0.50) + (Growth × 0.30) + (Breakable × 0.20)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search Poster">
  <a:themeElements>
    <a:clrScheme name="Research Poster">
      <a:dk1>
        <a:srgbClr val="363434"/>
      </a:dk1>
      <a:lt1>
        <a:srgbClr val="501214"/>
      </a:lt1>
      <a:dk2>
        <a:srgbClr val="A7A7A7"/>
      </a:dk2>
      <a:lt2>
        <a:srgbClr val="535353"/>
      </a:lt2>
      <a:accent1>
        <a:srgbClr val="D7BD8A"/>
      </a:accent1>
      <a:accent2>
        <a:srgbClr val="EB2E47"/>
      </a:accent2>
      <a:accent3>
        <a:srgbClr val="6EA095"/>
      </a:accent3>
      <a:accent4>
        <a:srgbClr val="EBBA45"/>
      </a:accent4>
      <a:accent5>
        <a:srgbClr val="EA664D"/>
      </a:accent5>
      <a:accent6>
        <a:srgbClr val="AC9155"/>
      </a:accent6>
      <a:hlink>
        <a:srgbClr val="0000FF"/>
      </a:hlink>
      <a:folHlink>
        <a:srgbClr val="FF00FF"/>
      </a:folHlink>
    </a:clrScheme>
    <a:fontScheme name="Research Poste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Research Po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012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36343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36343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search Poster">
  <a:themeElements>
    <a:clrScheme name="Research Poste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7BD8A"/>
      </a:accent1>
      <a:accent2>
        <a:srgbClr val="EB2E47"/>
      </a:accent2>
      <a:accent3>
        <a:srgbClr val="6EA095"/>
      </a:accent3>
      <a:accent4>
        <a:srgbClr val="EBBA45"/>
      </a:accent4>
      <a:accent5>
        <a:srgbClr val="EA664D"/>
      </a:accent5>
      <a:accent6>
        <a:srgbClr val="AC9155"/>
      </a:accent6>
      <a:hlink>
        <a:srgbClr val="0000FF"/>
      </a:hlink>
      <a:folHlink>
        <a:srgbClr val="FF00FF"/>
      </a:folHlink>
    </a:clrScheme>
    <a:fontScheme name="Research Poste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Research Po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012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36343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363434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